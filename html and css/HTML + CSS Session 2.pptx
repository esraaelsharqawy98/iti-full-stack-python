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embeddedFontLst>
    <p:embeddedFont>
      <p:font typeface="Playfair Display"/>
      <p:regular r:id="rId71"/>
      <p:bold r:id="rId72"/>
      <p:italic r:id="rId73"/>
      <p:boldItalic r:id="rId74"/>
    </p:embeddedFont>
    <p:embeddedFont>
      <p:font typeface="Lato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PlayfairDisplay-italic.fntdata"/><Relationship Id="rId72" Type="http://schemas.openxmlformats.org/officeDocument/2006/relationships/font" Target="fonts/PlayfairDisplay-bold.fntdata"/><Relationship Id="rId31" Type="http://schemas.openxmlformats.org/officeDocument/2006/relationships/slide" Target="slides/slide26.xml"/><Relationship Id="rId75" Type="http://schemas.openxmlformats.org/officeDocument/2006/relationships/font" Target="fonts/Lato-regular.fntdata"/><Relationship Id="rId30" Type="http://schemas.openxmlformats.org/officeDocument/2006/relationships/slide" Target="slides/slide25.xml"/><Relationship Id="rId74" Type="http://schemas.openxmlformats.org/officeDocument/2006/relationships/font" Target="fonts/PlayfairDisplay-boldItalic.fntdata"/><Relationship Id="rId33" Type="http://schemas.openxmlformats.org/officeDocument/2006/relationships/slide" Target="slides/slide28.xml"/><Relationship Id="rId77" Type="http://schemas.openxmlformats.org/officeDocument/2006/relationships/font" Target="fonts/Lato-italic.fntdata"/><Relationship Id="rId32" Type="http://schemas.openxmlformats.org/officeDocument/2006/relationships/slide" Target="slides/slide27.xml"/><Relationship Id="rId76" Type="http://schemas.openxmlformats.org/officeDocument/2006/relationships/font" Target="fonts/Lato-bold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schemas.openxmlformats.org/officeDocument/2006/relationships/font" Target="fonts/Lato-boldItalic.fntdata"/><Relationship Id="rId71" Type="http://schemas.openxmlformats.org/officeDocument/2006/relationships/font" Target="fonts/PlayfairDisplay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a97273c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a97273c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5a97273cf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5a97273cf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5a97273cf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5a97273cf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5a97273cf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5a97273cf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a97273cf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a97273cf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a97273cf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a97273cf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a97273cf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5a97273cf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a97273cf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a97273cf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a97273cf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a97273cf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a97273cf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5a97273cf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a97273cf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a97273cf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a97273cf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a97273cf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5a97273cfc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5a97273cf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a97273cf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5a97273cf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5a97273cf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5a97273cf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5a97273cf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5a97273cf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5a4468189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5a4468189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e4bebd00a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e4bebd00a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e4bebd00a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e4bebd00a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e4bebd00a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e4bebd00a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e4bebd00a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e4bebd00a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e4bebd00a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e4bebd00a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e4bebd00a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e4bebd00a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e4bebd00a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e4bebd00a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e4bebd00a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e4bebd00a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58f46c025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58f46c025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e4bebd00a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e4bebd00a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e4bebd00a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e4bebd00a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e4bebd00a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e4bebd00a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e4bebd00ad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e4bebd00ad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e4bebd00a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e4bebd00a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e4bebd00ad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e4bebd00a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5a97273cf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5a97273cf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e4bebd00ad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e4bebd00ad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e88777bf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e88777bf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e88777bf0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e88777bf0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e88777bf0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e88777bf0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e88777bf0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e88777bf0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e88777bf0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e88777bf0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e88777bf0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e88777bf0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e88777bf0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e88777bf0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e88777bf0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e88777bf0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e88777bf0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e88777bf0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e88777bf0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e88777bf0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e88777bf0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e88777bf0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e88777bf0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e88777bf0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e88777bf0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e88777bf0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e88777bf0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e88777bf0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e88777bf0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e88777bf0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e88777bf0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e88777bf0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e88777bf0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e88777bf0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5a97273cf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5a97273cf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e4bebd00ad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e4bebd00a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58f46c02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58f46c02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58f46c025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58f46c025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58f46c025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58f46c025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58f46c025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58f46c025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5a4468189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5a4468189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5a97273cfc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5a97273cfc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5a97273cfc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25a97273cfc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5a97273cfc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5a97273cfc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5a97273cfc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5a97273cfc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58f46c025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58f46c025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5a97273cfc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5a97273cfc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Relationship Id="rId4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6.png"/><Relationship Id="rId4" Type="http://schemas.openxmlformats.org/officeDocument/2006/relationships/image" Target="../media/image57.png"/><Relationship Id="rId5" Type="http://schemas.openxmlformats.org/officeDocument/2006/relationships/image" Target="../media/image4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1.png"/><Relationship Id="rId4" Type="http://schemas.openxmlformats.org/officeDocument/2006/relationships/image" Target="../media/image4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6.png"/><Relationship Id="rId4" Type="http://schemas.openxmlformats.org/officeDocument/2006/relationships/image" Target="../media/image6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5.png"/><Relationship Id="rId4" Type="http://schemas.openxmlformats.org/officeDocument/2006/relationships/image" Target="../media/image6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9.png"/><Relationship Id="rId4" Type="http://schemas.openxmlformats.org/officeDocument/2006/relationships/image" Target="../media/image5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HTML + CSS Session</a:t>
            </a:r>
            <a:endParaRPr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Basant Mohamed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Form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417800"/>
            <a:ext cx="8520600" cy="31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An HTML form is used to collect user input. The user input is most often sent to a server for processing.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Form Elements</a:t>
            </a: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 : 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HTML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element can contain one or more of the following form elements 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&lt;input&gt; , &lt;label&gt; , &lt;select&gt; ,&lt;button&gt; ,&lt;textarea&gt; ,&lt;fieldset&gt;,&lt;legend&gt; ,&lt;datalist&gt;,&lt;output&gt;,&lt;option&gt;,&lt;optgroup&gt;</a:t>
            </a:r>
            <a:endParaRPr sz="1200">
              <a:solidFill>
                <a:srgbClr val="DC14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C14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5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088" y="3176213"/>
            <a:ext cx="296227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2713" y="3361963"/>
            <a:ext cx="4067175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Form attributes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17800"/>
            <a:ext cx="8070600" cy="8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41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en" sz="1366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366">
                <a:latin typeface="Verdana"/>
                <a:ea typeface="Verdana"/>
                <a:cs typeface="Verdana"/>
                <a:sym typeface="Verdana"/>
              </a:rPr>
              <a:t>attribute defines the action to be performed when the form is submitted.</a:t>
            </a:r>
            <a:endParaRPr sz="2016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autocomplete</a:t>
            </a:r>
            <a:r>
              <a:rPr lang="en" sz="11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50">
                <a:latin typeface="Verdana"/>
                <a:ea typeface="Verdana"/>
                <a:cs typeface="Verdana"/>
                <a:sym typeface="Verdana"/>
              </a:rPr>
              <a:t>attribute specifies whether a form should have autocomplete on or off.</a:t>
            </a:r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025" y="2268600"/>
            <a:ext cx="6053176" cy="247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Form events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600" y="1170125"/>
            <a:ext cx="759296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Form Label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371275"/>
            <a:ext cx="8520600" cy="31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Defines a label for several form elements.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For : 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 attribute specifies which form element a label is bound to.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C14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C14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5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513" y="2973013"/>
            <a:ext cx="3971925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09925"/>
            <a:ext cx="24153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Form select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417800"/>
            <a:ext cx="5354400" cy="14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&lt;select&gt;</a:t>
            </a: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 element defines a drop-down list</a:t>
            </a:r>
            <a:endParaRPr sz="13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3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&lt;option&gt;</a:t>
            </a:r>
            <a:r>
              <a:rPr lang="en" sz="1250">
                <a:latin typeface="Verdana"/>
                <a:ea typeface="Verdana"/>
                <a:cs typeface="Verdana"/>
                <a:sym typeface="Verdana"/>
              </a:rPr>
              <a:t> elements defines an option that can be selected.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50">
                <a:latin typeface="Verdana"/>
                <a:ea typeface="Verdana"/>
                <a:cs typeface="Verdana"/>
                <a:sym typeface="Verdana"/>
              </a:rPr>
              <a:t>By default, the first item in the drop-down list is selected.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8"/>
          <p:cNvSpPr txBox="1"/>
          <p:nvPr>
            <p:ph type="title"/>
          </p:nvPr>
        </p:nvSpPr>
        <p:spPr>
          <a:xfrm>
            <a:off x="389675" y="2636475"/>
            <a:ext cx="44394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Form select attributes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389675" y="3352100"/>
            <a:ext cx="5354400" cy="15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define a pre-selected option, add the </a:t>
            </a:r>
            <a:r>
              <a:rPr lang="en" sz="13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selected</a:t>
            </a:r>
            <a:r>
              <a:rPr lang="en" sz="12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 to the option</a:t>
            </a:r>
            <a:endParaRPr sz="12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the </a:t>
            </a:r>
            <a:r>
              <a:rPr lang="en" sz="13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2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 to specify the number of visible values</a:t>
            </a:r>
            <a:endParaRPr sz="12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the </a:t>
            </a:r>
            <a:r>
              <a:rPr lang="en" sz="13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multiple</a:t>
            </a:r>
            <a:r>
              <a:rPr lang="en" sz="12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 to allow the user to select more than one value</a:t>
            </a:r>
            <a:endParaRPr sz="12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0200" y="1054925"/>
            <a:ext cx="3435926" cy="225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2425" y="3603100"/>
            <a:ext cx="9334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Form textarea 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370975"/>
            <a:ext cx="5526000" cy="18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9"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" sz="2359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2409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&lt;textarea&gt;</a:t>
            </a:r>
            <a:r>
              <a:rPr lang="en" sz="2359">
                <a:latin typeface="Verdana"/>
                <a:ea typeface="Verdana"/>
                <a:cs typeface="Verdana"/>
                <a:sym typeface="Verdana"/>
              </a:rPr>
              <a:t> element defines a multi-line input field (a text area)</a:t>
            </a:r>
            <a:endParaRPr sz="2359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359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2409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rows</a:t>
            </a:r>
            <a:r>
              <a:rPr lang="en" sz="2359">
                <a:latin typeface="Verdana"/>
                <a:ea typeface="Verdana"/>
                <a:cs typeface="Verdana"/>
                <a:sym typeface="Verdana"/>
              </a:rPr>
              <a:t> attribute specifies the visible number of lines in a text area.</a:t>
            </a:r>
            <a:endParaRPr sz="2359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359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2409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cols</a:t>
            </a:r>
            <a:r>
              <a:rPr lang="en" sz="2359">
                <a:latin typeface="Verdana"/>
                <a:ea typeface="Verdana"/>
                <a:cs typeface="Verdana"/>
                <a:sym typeface="Verdana"/>
              </a:rPr>
              <a:t> attribute specifies the visible width of a text area.</a:t>
            </a:r>
            <a:endParaRPr sz="2359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 sz="115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375" y="3389325"/>
            <a:ext cx="5526124" cy="124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7875" y="1558800"/>
            <a:ext cx="2816949" cy="14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Form Button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75" y="2050400"/>
            <a:ext cx="7489750" cy="17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275" y="1437700"/>
            <a:ext cx="4834850" cy="3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Form fieldset and legend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463500" y="1474375"/>
            <a:ext cx="7134900" cy="3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5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&lt;fieldset&gt;</a:t>
            </a:r>
            <a:r>
              <a:rPr lang="en" sz="14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element is used to group related data in a form.</a:t>
            </a:r>
            <a:endParaRPr sz="14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5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&lt;legend&gt;</a:t>
            </a:r>
            <a:r>
              <a:rPr lang="en" sz="14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element defines a caption for the </a:t>
            </a:r>
            <a:r>
              <a:rPr lang="en" sz="15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&lt;fieldset&gt;</a:t>
            </a:r>
            <a:r>
              <a:rPr lang="en" sz="14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element.</a:t>
            </a:r>
            <a:endParaRPr sz="14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325" y="2870013"/>
            <a:ext cx="371830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3688" y="2474725"/>
            <a:ext cx="336232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Form datalist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417800"/>
            <a:ext cx="51645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&lt;datalist&gt;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element specifies a list of pre-defined options for an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&lt;input&gt;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element.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Users will see a drop-down list of the pre-defined options as they input data.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attribute of 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&lt;input&gt;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element, must refer to 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attribute of 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&lt;datalist&gt;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element.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275" y="1309600"/>
            <a:ext cx="3318675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Input Type attribute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1417800"/>
            <a:ext cx="3955500" cy="8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different types of inputs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7150" y="306737"/>
            <a:ext cx="2802050" cy="453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052" y="2509875"/>
            <a:ext cx="3373150" cy="1657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89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Inputs Restrictions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975" y="1280025"/>
            <a:ext cx="8254050" cy="34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Input Attributes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311700" y="1146050"/>
            <a:ext cx="8520600" cy="3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The input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attribute specifies an initial value for an input field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The input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readonly</a:t>
            </a:r>
            <a:r>
              <a:rPr lang="en" sz="1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attribute specifies that an input field is read-only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The input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disabled</a:t>
            </a:r>
            <a:r>
              <a:rPr lang="en" sz="1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attribute specifies that an input field should be disabled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The input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attribute specifies the visible width, in characters, of an input field.The default value for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is 20 ,it works with  text, search, tel, url, email, and password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The input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maxlength</a:t>
            </a:r>
            <a:r>
              <a:rPr lang="en" sz="1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attribute specifies the maximum number of characters allowed in an input field.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The input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en" sz="1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 attributes specify the minimum and maximum values for an input field ,works with  number, range, date, datetime-local, month, time and week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The input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en" sz="1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attribute specifies a short hint that describes the expected value of an input field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The input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required</a:t>
            </a:r>
            <a:r>
              <a:rPr lang="en" sz="1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attribute specifies that an input field must be filled out before submitting the form.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The input </a:t>
            </a:r>
            <a:r>
              <a:rPr lang="en" sz="1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step</a:t>
            </a:r>
            <a:r>
              <a:rPr lang="en" sz="1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attribute specifies the legal number intervals for an input field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163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Any Question ????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500" y="17033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Block and Inline Elements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293225" y="1217767"/>
            <a:ext cx="85206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A block-level element always starts on a new line, and the browsers automatically add some space (a margin) before and after the element.</a:t>
            </a:r>
            <a:endParaRPr sz="2400"/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00" y="2182874"/>
            <a:ext cx="7633176" cy="9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412275" y="3235075"/>
            <a:ext cx="73875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inline element does not start on a new line.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275" y="3701776"/>
            <a:ext cx="8282501" cy="12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HTML Symbols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375" y="1210125"/>
            <a:ext cx="6603249" cy="38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HTML Entity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850" y="1085200"/>
            <a:ext cx="577165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Any Question ????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500" y="17033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HTML style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417800"/>
            <a:ext cx="8520600" cy="3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The HTML </a:t>
            </a:r>
            <a:r>
              <a:rPr lang="en" sz="17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n" sz="17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attribute is used to add styles to an element, such as color, font, size, and more.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tagname</a:t>
            </a:r>
            <a:r>
              <a:rPr b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style="</a:t>
            </a:r>
            <a:r>
              <a:rPr b="1" i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property</a:t>
            </a:r>
            <a:r>
              <a:rPr b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value;</a:t>
            </a:r>
            <a:r>
              <a:rPr b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1" sz="185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16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for background color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for text colors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for text fonts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for text sizes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for text alignment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rPr lang="en" sz="1450">
                <a:solidFill>
                  <a:srgbClr val="FFFF00"/>
                </a:solidFill>
                <a:highlight>
                  <a:schemeClr val="dk2"/>
                </a:highlight>
                <a:latin typeface="Verdana"/>
                <a:ea typeface="Verdana"/>
                <a:cs typeface="Verdana"/>
                <a:sym typeface="Verdana"/>
              </a:rPr>
              <a:t>Note : </a:t>
            </a:r>
            <a:r>
              <a:rPr lang="en" sz="1450">
                <a:highlight>
                  <a:schemeClr val="dk2"/>
                </a:highlight>
                <a:latin typeface="Verdana"/>
                <a:ea typeface="Verdana"/>
                <a:cs typeface="Verdana"/>
                <a:sym typeface="Verdana"/>
              </a:rPr>
              <a:t>This Style called inline CSS is used to apply a unique style to a single HTML element.</a:t>
            </a:r>
            <a:endParaRPr b="1" sz="21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What is CSS?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CSS is the language we use to style a Web page.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CSS stands for Cascading Style Sheets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CSS describes how HTML elements are to be displayed on screen, paper, or in other media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CSS saves a lot of work. It can control the layout of multiple web pages all at once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External stylesheets are stored in CSS files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Syntax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311700" y="1417800"/>
            <a:ext cx="39027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selector points to the HTML element you want to style.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declaration block contains one or more declarations separated by semicolons.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Each declaration includes a CSS property name and a value, separated by a colon.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Multiple CSS declarations are separated with semicolons, and declaration blocks are surrounded by curly braces.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9625" y="1472875"/>
            <a:ext cx="4557824" cy="21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CSS selectors are used to "find" (or select) the HTML elements you want to style.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50" y="1884425"/>
            <a:ext cx="8303300" cy="29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Element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element selector selects HTML elements based on the element name.</a:t>
            </a:r>
            <a:endParaRPr sz="2200"/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225" y="2002075"/>
            <a:ext cx="335280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813" y="1987788"/>
            <a:ext cx="338137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Id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id selector uses the id attribute of an HTML element to select a specific element.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id of an element is unique within a page, so the id selector is used to select one unique element!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00" y="3372763"/>
            <a:ext cx="39624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1900" y="2733075"/>
            <a:ext cx="32004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Class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class selector selects HTML elements with a specific class attribute.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To select elements with a specific class, write a period (.) character, followed by the class name.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000" y="2741600"/>
            <a:ext cx="33147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0288" y="2491238"/>
            <a:ext cx="30003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Element with class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You can also specify that only specific HTML elements should be affected by a class.</a:t>
            </a:r>
            <a:endParaRPr sz="2100"/>
          </a:p>
        </p:txBody>
      </p:sp>
      <p:pic>
        <p:nvPicPr>
          <p:cNvPr id="247" name="Google Shape;24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88" y="2426513"/>
            <a:ext cx="380047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863" y="2197900"/>
            <a:ext cx="303847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Attr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311700" y="1494000"/>
            <a:ext cx="49827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[attribute]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selector is used to select elements with a specified attribute.</a:t>
            </a:r>
            <a:endParaRPr sz="2200"/>
          </a:p>
        </p:txBody>
      </p:sp>
      <p:pic>
        <p:nvPicPr>
          <p:cNvPr id="255" name="Google Shape;2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300" y="661975"/>
            <a:ext cx="3810000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Universal</a:t>
            </a:r>
            <a:r>
              <a:rPr lang="en">
                <a:solidFill>
                  <a:srgbClr val="FFFF00"/>
                </a:solidFill>
              </a:rPr>
              <a:t>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universal selector (*) selects all HTML elements on the page.</a:t>
            </a:r>
            <a:endParaRPr sz="2200"/>
          </a:p>
        </p:txBody>
      </p:sp>
      <p:pic>
        <p:nvPicPr>
          <p:cNvPr id="262" name="Google Shape;2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613" y="2526525"/>
            <a:ext cx="2962275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How To Add CSS?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68" name="Google Shape;268;p4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7025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Verdana"/>
              <a:buChar char="●"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External CSS :</a:t>
            </a:r>
            <a:endParaRPr sz="1150">
              <a:solidFill>
                <a:srgbClr val="0000C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000C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000C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27025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Verdana"/>
              <a:buChar char="●"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Internal CSS :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327025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Verdana"/>
              <a:buChar char="●"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Inline CSS : 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950" y="1932398"/>
            <a:ext cx="3152775" cy="204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900" y="4158375"/>
            <a:ext cx="3345000" cy="3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1275" y="1417800"/>
            <a:ext cx="3152775" cy="3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Color: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277" name="Google Shape;2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000" y="372713"/>
            <a:ext cx="3810000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2"/>
          <p:cNvSpPr txBox="1"/>
          <p:nvPr>
            <p:ph type="title"/>
          </p:nvPr>
        </p:nvSpPr>
        <p:spPr>
          <a:xfrm>
            <a:off x="485500" y="192675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Background :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79" name="Google Shape;279;p42"/>
          <p:cNvSpPr txBox="1"/>
          <p:nvPr/>
        </p:nvSpPr>
        <p:spPr>
          <a:xfrm>
            <a:off x="567925" y="2571750"/>
            <a:ext cx="6159300" cy="27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Background-image : url(‘image.png’)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Background-repeat :no-repeat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Background-attachment : (scroll ,fixed)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Background-position : top right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 : </a:t>
            </a:r>
            <a:r>
              <a:rPr lang="en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#ffffff url("img_tree.png") no-repeat right top;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Border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311700" y="14940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The CSS border properties allow you to specify the style, width, and color of an element's border.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6" name="Google Shape;28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975" y="2091550"/>
            <a:ext cx="4812000" cy="28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Margin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92" name="Google Shape;292;p4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Margins are used to create space around elements, outside of any defined borders.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-352425" lvl="0" marL="457200" rtl="0" algn="l">
              <a:spcBef>
                <a:spcPts val="1200"/>
              </a:spcBef>
              <a:spcAft>
                <a:spcPts val="0"/>
              </a:spcAft>
              <a:buSzPts val="1950"/>
              <a:buFont typeface="Verdana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Margin-top : 20px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Font typeface="Verdana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Margin-right : auto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Font typeface="Verdana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Margin-bottom : inherit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Font typeface="Verdana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Margin-left : 30%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Margin : top right bottom left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Padding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98" name="Google Shape;298;p45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Padding is used to create space around an element's content, inside of any defined borders.</a:t>
            </a:r>
            <a:endParaRPr sz="2300"/>
          </a:p>
        </p:txBody>
      </p:sp>
      <p:pic>
        <p:nvPicPr>
          <p:cNvPr id="299" name="Google Shape;29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050" y="2442563"/>
            <a:ext cx="3771900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</a:t>
            </a:r>
            <a:r>
              <a:rPr lang="en">
                <a:solidFill>
                  <a:srgbClr val="FFFF00"/>
                </a:solidFill>
              </a:rPr>
              <a:t>Height</a:t>
            </a:r>
            <a:r>
              <a:rPr lang="en">
                <a:solidFill>
                  <a:srgbClr val="FFFF00"/>
                </a:solidFill>
              </a:rPr>
              <a:t> and Width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05" name="Google Shape;305;p46"/>
          <p:cNvSpPr txBox="1"/>
          <p:nvPr>
            <p:ph idx="1" type="body"/>
          </p:nvPr>
        </p:nvSpPr>
        <p:spPr>
          <a:xfrm>
            <a:off x="311700" y="1243550"/>
            <a:ext cx="8520600" cy="3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487">
                <a:latin typeface="Verdana"/>
                <a:ea typeface="Verdana"/>
                <a:cs typeface="Verdana"/>
                <a:sym typeface="Verdana"/>
              </a:rPr>
              <a:t>The CSS </a:t>
            </a:r>
            <a:r>
              <a:rPr lang="en" sz="15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487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87"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lang="en" sz="15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" sz="1487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87">
                <a:latin typeface="Verdana"/>
                <a:ea typeface="Verdana"/>
                <a:cs typeface="Verdana"/>
                <a:sym typeface="Verdana"/>
              </a:rPr>
              <a:t>properties are used to set the height and width of an element.</a:t>
            </a:r>
            <a:endParaRPr sz="1487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487">
                <a:latin typeface="Verdana"/>
                <a:ea typeface="Verdana"/>
                <a:cs typeface="Verdana"/>
                <a:sym typeface="Verdana"/>
              </a:rPr>
              <a:t>The CSS </a:t>
            </a:r>
            <a:r>
              <a:rPr lang="en" sz="15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max-width</a:t>
            </a:r>
            <a:r>
              <a:rPr lang="en" sz="1487">
                <a:latin typeface="Verdana"/>
                <a:ea typeface="Verdana"/>
                <a:cs typeface="Verdana"/>
                <a:sym typeface="Verdana"/>
              </a:rPr>
              <a:t> property is used to set the maximum width of an element.</a:t>
            </a:r>
            <a:endParaRPr sz="1487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441">
                <a:latin typeface="Verdana"/>
                <a:ea typeface="Verdana"/>
                <a:cs typeface="Verdana"/>
                <a:sym typeface="Verdana"/>
              </a:rPr>
              <a:t>The height and width properties do not include padding, borders, or margins. It sets the height/width of the area </a:t>
            </a:r>
            <a:r>
              <a:rPr b="1" lang="en" sz="1441">
                <a:latin typeface="Verdana"/>
                <a:ea typeface="Verdana"/>
                <a:cs typeface="Verdana"/>
                <a:sym typeface="Verdana"/>
              </a:rPr>
              <a:t>inside </a:t>
            </a:r>
            <a:r>
              <a:rPr lang="en" sz="1441">
                <a:latin typeface="Verdana"/>
                <a:ea typeface="Verdana"/>
                <a:cs typeface="Verdana"/>
                <a:sym typeface="Verdana"/>
              </a:rPr>
              <a:t>the padding, border, and margin of the element.</a:t>
            </a:r>
            <a:endParaRPr sz="1765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properties may have the following values: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-296148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64"/>
              <a:buFont typeface="Verdana"/>
              <a:buChar char="●"/>
            </a:pP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auto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- This is default. The browser calculates the height and width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-29614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4"/>
              <a:buFont typeface="Verdana"/>
              <a:buChar char="●"/>
            </a:pP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- Defines the height/width in px, cm, etc.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-29614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4"/>
              <a:buFont typeface="Verdana"/>
              <a:buChar char="●"/>
            </a:pP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- Defines the height/width in percent of the containing block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-29614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4"/>
              <a:buFont typeface="Verdana"/>
              <a:buChar char="●"/>
            </a:pP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initial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- Sets the height/width to its default value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-29614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4"/>
              <a:buFont typeface="Verdana"/>
              <a:buChar char="●"/>
            </a:pP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inherit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- The height/width will be inherited from its parent value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1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72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Box Model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11" name="Google Shape;311;p47"/>
          <p:cNvSpPr/>
          <p:nvPr/>
        </p:nvSpPr>
        <p:spPr>
          <a:xfrm>
            <a:off x="514475" y="1510150"/>
            <a:ext cx="8191200" cy="202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</a:t>
            </a:r>
            <a:endParaRPr/>
          </a:p>
        </p:txBody>
      </p:sp>
      <p:sp>
        <p:nvSpPr>
          <p:cNvPr id="312" name="Google Shape;312;p47"/>
          <p:cNvSpPr/>
          <p:nvPr/>
        </p:nvSpPr>
        <p:spPr>
          <a:xfrm>
            <a:off x="1391325" y="1905800"/>
            <a:ext cx="6758100" cy="1272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Border</a:t>
            </a:r>
            <a:endParaRPr/>
          </a:p>
        </p:txBody>
      </p:sp>
      <p:sp>
        <p:nvSpPr>
          <p:cNvPr id="313" name="Google Shape;313;p47"/>
          <p:cNvSpPr/>
          <p:nvPr/>
        </p:nvSpPr>
        <p:spPr>
          <a:xfrm>
            <a:off x="2107775" y="2130350"/>
            <a:ext cx="5453700" cy="780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Padding</a:t>
            </a:r>
            <a:endParaRPr/>
          </a:p>
        </p:txBody>
      </p:sp>
      <p:sp>
        <p:nvSpPr>
          <p:cNvPr id="314" name="Google Shape;314;p47"/>
          <p:cNvSpPr/>
          <p:nvPr/>
        </p:nvSpPr>
        <p:spPr>
          <a:xfrm>
            <a:off x="3251975" y="2419075"/>
            <a:ext cx="3069000" cy="2352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HTML style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20" name="Google Shape;320;p48"/>
          <p:cNvSpPr txBox="1"/>
          <p:nvPr>
            <p:ph idx="1" type="body"/>
          </p:nvPr>
        </p:nvSpPr>
        <p:spPr>
          <a:xfrm>
            <a:off x="311700" y="1417800"/>
            <a:ext cx="8520600" cy="3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The HTML </a:t>
            </a:r>
            <a:r>
              <a:rPr lang="en" sz="17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n" sz="17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attribute is used to add styles to an element, such as color, font, size, and more.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tagname</a:t>
            </a:r>
            <a:r>
              <a:rPr b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style="</a:t>
            </a:r>
            <a:r>
              <a:rPr b="1" i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property</a:t>
            </a:r>
            <a:r>
              <a:rPr b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value;</a:t>
            </a:r>
            <a:r>
              <a:rPr b="1" lang="en" sz="18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1" sz="185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16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for background color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for text colors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for text fonts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for text sizes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for text alignment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rPr lang="en" sz="1450">
                <a:solidFill>
                  <a:srgbClr val="FFFF00"/>
                </a:solidFill>
                <a:highlight>
                  <a:schemeClr val="dk2"/>
                </a:highlight>
                <a:latin typeface="Verdana"/>
                <a:ea typeface="Verdana"/>
                <a:cs typeface="Verdana"/>
                <a:sym typeface="Verdana"/>
              </a:rPr>
              <a:t>Note : </a:t>
            </a:r>
            <a:r>
              <a:rPr lang="en" sz="1450">
                <a:highlight>
                  <a:schemeClr val="dk2"/>
                </a:highlight>
                <a:latin typeface="Verdana"/>
                <a:ea typeface="Verdana"/>
                <a:cs typeface="Verdana"/>
                <a:sym typeface="Verdana"/>
              </a:rPr>
              <a:t>This Style called inline CSS is used to apply a unique style to a single HTML element.</a:t>
            </a:r>
            <a:endParaRPr b="1" sz="21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What is CSS?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9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CSS is the language we use to style a Web page.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CSS stands for Cascading Style Sheets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CSS describes how HTML elements are to be displayed on screen, paper, or in other media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CSS saves a lot of work. It can control the layout of multiple web pages all at once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External stylesheets are stored in CSS files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Syntax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32" name="Google Shape;332;p50"/>
          <p:cNvSpPr txBox="1"/>
          <p:nvPr>
            <p:ph idx="1" type="body"/>
          </p:nvPr>
        </p:nvSpPr>
        <p:spPr>
          <a:xfrm>
            <a:off x="311700" y="1417800"/>
            <a:ext cx="39027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selector points to the HTML element you want to style.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declaration block contains one or more declarations separated by semicolons.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Each declaration includes a CSS property name and a value, separated by a colon.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Multiple CSS declarations are separated with semicolons, and declaration blocks are surrounded by curly braces.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9625" y="1472875"/>
            <a:ext cx="4557824" cy="21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39" name="Google Shape;339;p5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CSS selectors are used to "find" (or select) the HTML elements you want to style.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0" name="Google Shape;34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50" y="1884425"/>
            <a:ext cx="8303300" cy="29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Element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46" name="Google Shape;346;p52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element selector selects HTML elements based on the element name.</a:t>
            </a:r>
            <a:endParaRPr sz="2200"/>
          </a:p>
        </p:txBody>
      </p:sp>
      <p:pic>
        <p:nvPicPr>
          <p:cNvPr id="347" name="Google Shape;34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225" y="2002075"/>
            <a:ext cx="335280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813" y="1987788"/>
            <a:ext cx="338137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Id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54" name="Google Shape;354;p5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id selector uses the id attribute of an HTML element to select a specific element.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id of an element is unique within a page, so the id selector is used to select one unique element!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00" y="3372763"/>
            <a:ext cx="39624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1900" y="2733075"/>
            <a:ext cx="32004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Class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62" name="Google Shape;362;p5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class selector selects HTML elements with a specific class attribute.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To select elements with a specific class, write a period (.) character, followed by the class name.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000" y="2741600"/>
            <a:ext cx="33147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0288" y="2491238"/>
            <a:ext cx="30003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Element with class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70" name="Google Shape;370;p55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You can also specify that only specific HTML elements should be affected by a class.</a:t>
            </a:r>
            <a:endParaRPr sz="2100"/>
          </a:p>
        </p:txBody>
      </p:sp>
      <p:pic>
        <p:nvPicPr>
          <p:cNvPr id="371" name="Google Shape;37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88" y="2426513"/>
            <a:ext cx="380047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863" y="2197900"/>
            <a:ext cx="303847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Attr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78" name="Google Shape;378;p56"/>
          <p:cNvSpPr txBox="1"/>
          <p:nvPr>
            <p:ph idx="1" type="body"/>
          </p:nvPr>
        </p:nvSpPr>
        <p:spPr>
          <a:xfrm>
            <a:off x="311700" y="1494000"/>
            <a:ext cx="49827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[attribute]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selector is used to select elements with a specified attribute.</a:t>
            </a:r>
            <a:endParaRPr sz="2200"/>
          </a:p>
        </p:txBody>
      </p:sp>
      <p:pic>
        <p:nvPicPr>
          <p:cNvPr id="379" name="Google Shape;37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300" y="661975"/>
            <a:ext cx="3810000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Universal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85" name="Google Shape;385;p57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universal selector (*) selects all HTML elements on the page.</a:t>
            </a:r>
            <a:endParaRPr sz="2200"/>
          </a:p>
        </p:txBody>
      </p:sp>
      <p:pic>
        <p:nvPicPr>
          <p:cNvPr id="386" name="Google Shape;38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613" y="2526525"/>
            <a:ext cx="2962275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How To Add CSS?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92" name="Google Shape;392;p58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7025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Verdana"/>
              <a:buChar char="●"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External CSS :</a:t>
            </a:r>
            <a:endParaRPr sz="1150">
              <a:solidFill>
                <a:srgbClr val="0000C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000C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000C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27025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Verdana"/>
              <a:buChar char="●"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Internal CSS :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327025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Verdana"/>
              <a:buChar char="●"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Inline CSS : 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950" y="1932398"/>
            <a:ext cx="3152775" cy="204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900" y="4158375"/>
            <a:ext cx="3345000" cy="3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1275" y="1417800"/>
            <a:ext cx="3152775" cy="3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Color: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401" name="Google Shape;40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000" y="372713"/>
            <a:ext cx="3810000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9"/>
          <p:cNvSpPr txBox="1"/>
          <p:nvPr>
            <p:ph type="title"/>
          </p:nvPr>
        </p:nvSpPr>
        <p:spPr>
          <a:xfrm>
            <a:off x="485500" y="192675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Background :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03" name="Google Shape;403;p59"/>
          <p:cNvSpPr txBox="1"/>
          <p:nvPr/>
        </p:nvSpPr>
        <p:spPr>
          <a:xfrm>
            <a:off x="567925" y="2571750"/>
            <a:ext cx="6159300" cy="27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Background-image : url(‘image.png’)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Background-repeat :no-repeat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Background-attachment : (scroll ,fixed)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Background-position : top right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Char char="●"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 : </a:t>
            </a:r>
            <a:r>
              <a:rPr lang="en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#ffffff url("img_tree.png") no-repeat right top;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Border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09" name="Google Shape;409;p60"/>
          <p:cNvSpPr txBox="1"/>
          <p:nvPr>
            <p:ph idx="1" type="body"/>
          </p:nvPr>
        </p:nvSpPr>
        <p:spPr>
          <a:xfrm>
            <a:off x="311700" y="14940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The CSS border properties allow you to specify the style, width, and color of an element's border.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10" name="Google Shape;41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975" y="2091550"/>
            <a:ext cx="4812000" cy="28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Margin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16" name="Google Shape;416;p6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Margins are used to create space around elements, outside of any defined borders.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-352425" lvl="0" marL="457200" rtl="0" algn="l">
              <a:spcBef>
                <a:spcPts val="1200"/>
              </a:spcBef>
              <a:spcAft>
                <a:spcPts val="0"/>
              </a:spcAft>
              <a:buSzPts val="1950"/>
              <a:buFont typeface="Verdana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Margin-top : 20px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Font typeface="Verdana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Margin-right : auto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Font typeface="Verdana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Margin-bottom : inherit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Font typeface="Verdana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Margin-left : 30%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Margin : top right bottom left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Padding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22" name="Google Shape;422;p62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Padding is used to create space around an element's content, inside of any defined borders.</a:t>
            </a:r>
            <a:endParaRPr sz="2300"/>
          </a:p>
        </p:txBody>
      </p:sp>
      <p:pic>
        <p:nvPicPr>
          <p:cNvPr id="423" name="Google Shape;42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050" y="2442563"/>
            <a:ext cx="3771900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Height and Width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29" name="Google Shape;429;p63"/>
          <p:cNvSpPr txBox="1"/>
          <p:nvPr>
            <p:ph idx="1" type="body"/>
          </p:nvPr>
        </p:nvSpPr>
        <p:spPr>
          <a:xfrm>
            <a:off x="311700" y="1243550"/>
            <a:ext cx="8520600" cy="3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487">
                <a:latin typeface="Verdana"/>
                <a:ea typeface="Verdana"/>
                <a:cs typeface="Verdana"/>
                <a:sym typeface="Verdana"/>
              </a:rPr>
              <a:t>The CSS </a:t>
            </a:r>
            <a:r>
              <a:rPr lang="en" sz="15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487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87"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lang="en" sz="15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" sz="1487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87">
                <a:latin typeface="Verdana"/>
                <a:ea typeface="Verdana"/>
                <a:cs typeface="Verdana"/>
                <a:sym typeface="Verdana"/>
              </a:rPr>
              <a:t>properties are used to set the height and width of an element.</a:t>
            </a:r>
            <a:endParaRPr sz="1487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487">
                <a:latin typeface="Verdana"/>
                <a:ea typeface="Verdana"/>
                <a:cs typeface="Verdana"/>
                <a:sym typeface="Verdana"/>
              </a:rPr>
              <a:t>The CSS </a:t>
            </a:r>
            <a:r>
              <a:rPr lang="en" sz="15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max-width</a:t>
            </a:r>
            <a:r>
              <a:rPr lang="en" sz="1487">
                <a:latin typeface="Verdana"/>
                <a:ea typeface="Verdana"/>
                <a:cs typeface="Verdana"/>
                <a:sym typeface="Verdana"/>
              </a:rPr>
              <a:t> property is used to set the maximum width of an element.</a:t>
            </a:r>
            <a:endParaRPr sz="1487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441">
                <a:latin typeface="Verdana"/>
                <a:ea typeface="Verdana"/>
                <a:cs typeface="Verdana"/>
                <a:sym typeface="Verdana"/>
              </a:rPr>
              <a:t>The height and width properties do not include padding, borders, or margins. It sets the height/width of the area </a:t>
            </a:r>
            <a:r>
              <a:rPr b="1" lang="en" sz="1441">
                <a:latin typeface="Verdana"/>
                <a:ea typeface="Verdana"/>
                <a:cs typeface="Verdana"/>
                <a:sym typeface="Verdana"/>
              </a:rPr>
              <a:t>inside </a:t>
            </a:r>
            <a:r>
              <a:rPr lang="en" sz="1441">
                <a:latin typeface="Verdana"/>
                <a:ea typeface="Verdana"/>
                <a:cs typeface="Verdana"/>
                <a:sym typeface="Verdana"/>
              </a:rPr>
              <a:t>the padding, border, and margin of the element.</a:t>
            </a:r>
            <a:endParaRPr sz="1765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properties may have the following values: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-296148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64"/>
              <a:buFont typeface="Verdana"/>
              <a:buChar char="●"/>
            </a:pP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auto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- This is default. The browser calculates the height and width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-29614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4"/>
              <a:buFont typeface="Verdana"/>
              <a:buChar char="●"/>
            </a:pP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- Defines the height/width in px, cm, etc.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-29614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4"/>
              <a:buFont typeface="Verdana"/>
              <a:buChar char="●"/>
            </a:pP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- Defines the height/width in percent of the containing block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-29614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4"/>
              <a:buFont typeface="Verdana"/>
              <a:buChar char="●"/>
            </a:pP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initial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- Sets the height/width to its default value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-29614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4"/>
              <a:buFont typeface="Verdana"/>
              <a:buChar char="●"/>
            </a:pPr>
            <a:r>
              <a:rPr lang="en" sz="151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inherit</a:t>
            </a:r>
            <a:r>
              <a:rPr lang="en" sz="1463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63">
                <a:latin typeface="Verdana"/>
                <a:ea typeface="Verdana"/>
                <a:cs typeface="Verdana"/>
                <a:sym typeface="Verdana"/>
              </a:rPr>
              <a:t>- The height/width will be inherited from its parent value</a:t>
            </a:r>
            <a:endParaRPr sz="1463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1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72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Box Model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35" name="Google Shape;435;p64"/>
          <p:cNvSpPr/>
          <p:nvPr/>
        </p:nvSpPr>
        <p:spPr>
          <a:xfrm>
            <a:off x="514475" y="1510150"/>
            <a:ext cx="8191200" cy="202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</a:t>
            </a:r>
            <a:endParaRPr/>
          </a:p>
        </p:txBody>
      </p:sp>
      <p:sp>
        <p:nvSpPr>
          <p:cNvPr id="436" name="Google Shape;436;p64"/>
          <p:cNvSpPr/>
          <p:nvPr/>
        </p:nvSpPr>
        <p:spPr>
          <a:xfrm>
            <a:off x="1391325" y="1905800"/>
            <a:ext cx="6758100" cy="1272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Border</a:t>
            </a:r>
            <a:endParaRPr/>
          </a:p>
        </p:txBody>
      </p:sp>
      <p:sp>
        <p:nvSpPr>
          <p:cNvPr id="437" name="Google Shape;437;p64"/>
          <p:cNvSpPr/>
          <p:nvPr/>
        </p:nvSpPr>
        <p:spPr>
          <a:xfrm>
            <a:off x="2107775" y="2130350"/>
            <a:ext cx="5453700" cy="780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Padding</a:t>
            </a:r>
            <a:endParaRPr/>
          </a:p>
        </p:txBody>
      </p:sp>
      <p:sp>
        <p:nvSpPr>
          <p:cNvPr id="438" name="Google Shape;438;p64"/>
          <p:cNvSpPr/>
          <p:nvPr/>
        </p:nvSpPr>
        <p:spPr>
          <a:xfrm>
            <a:off x="3251975" y="2419075"/>
            <a:ext cx="3069000" cy="2352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5"/>
          <p:cNvSpPr txBox="1"/>
          <p:nvPr>
            <p:ph type="title"/>
          </p:nvPr>
        </p:nvSpPr>
        <p:spPr>
          <a:xfrm>
            <a:off x="248525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Outline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44" name="Google Shape;444;p65"/>
          <p:cNvSpPr txBox="1"/>
          <p:nvPr/>
        </p:nvSpPr>
        <p:spPr>
          <a:xfrm>
            <a:off x="426875" y="1420450"/>
            <a:ext cx="8163900" cy="3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outline is a line drawn outside the element's border.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outline-style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outline-color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outline-width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outline-offset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outline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45" name="Google Shape;44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638" y="1879488"/>
            <a:ext cx="271462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825" y="4072218"/>
            <a:ext cx="8163901" cy="671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11">
                <a:solidFill>
                  <a:srgbClr val="FFFF00"/>
                </a:solidFill>
              </a:rPr>
              <a:t>CSS Text</a:t>
            </a:r>
            <a:endParaRPr sz="3311">
              <a:solidFill>
                <a:srgbClr val="FFFF00"/>
              </a:solidFill>
            </a:endParaRPr>
          </a:p>
        </p:txBody>
      </p:sp>
      <p:pic>
        <p:nvPicPr>
          <p:cNvPr id="452" name="Google Shape;45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625" y="1619250"/>
            <a:ext cx="5271825" cy="31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Font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58" name="Google Shape;458;p67"/>
          <p:cNvSpPr txBox="1"/>
          <p:nvPr>
            <p:ph idx="1" type="body"/>
          </p:nvPr>
        </p:nvSpPr>
        <p:spPr>
          <a:xfrm>
            <a:off x="311700" y="1417800"/>
            <a:ext cx="41250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9">
                <a:latin typeface="Courier New"/>
                <a:ea typeface="Courier New"/>
                <a:cs typeface="Courier New"/>
                <a:sym typeface="Courier New"/>
              </a:rPr>
              <a:t>Font-family :</a:t>
            </a:r>
            <a:endParaRPr sz="1929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29">
                <a:latin typeface="Courier New"/>
                <a:ea typeface="Courier New"/>
                <a:cs typeface="Courier New"/>
                <a:sym typeface="Courier New"/>
              </a:rPr>
              <a:t>Font-style : (normal - ilatice - </a:t>
            </a:r>
            <a:r>
              <a:rPr lang="en" sz="1529">
                <a:latin typeface="Courier New"/>
                <a:ea typeface="Courier New"/>
                <a:cs typeface="Courier New"/>
                <a:sym typeface="Courier New"/>
              </a:rPr>
              <a:t>oblique)</a:t>
            </a:r>
            <a:endParaRPr sz="1529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29">
                <a:latin typeface="Courier New"/>
                <a:ea typeface="Courier New"/>
                <a:cs typeface="Courier New"/>
                <a:sym typeface="Courier New"/>
              </a:rPr>
              <a:t>Font-weight : 900</a:t>
            </a:r>
            <a:endParaRPr sz="1629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29">
                <a:latin typeface="Courier New"/>
                <a:ea typeface="Courier New"/>
                <a:cs typeface="Courier New"/>
                <a:sym typeface="Courier New"/>
              </a:rPr>
              <a:t>Font-size : px / em </a:t>
            </a:r>
            <a:endParaRPr sz="2129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68">
                <a:latin typeface="Verdana"/>
                <a:ea typeface="Verdana"/>
                <a:cs typeface="Verdana"/>
                <a:sym typeface="Verdana"/>
              </a:rPr>
              <a:t>1em is equal to the current font size. The default text size in browsers is 16px. So, the default size of 1em is 16px.</a:t>
            </a:r>
            <a:endParaRPr sz="1668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68">
                <a:latin typeface="Verdana"/>
                <a:ea typeface="Verdana"/>
                <a:cs typeface="Verdana"/>
                <a:sym typeface="Verdana"/>
              </a:rPr>
              <a:t>The size can be calculated from pixels to em using this formula: </a:t>
            </a:r>
            <a:r>
              <a:rPr i="1" lang="en" sz="1668">
                <a:latin typeface="Verdana"/>
                <a:ea typeface="Verdana"/>
                <a:cs typeface="Verdana"/>
                <a:sym typeface="Verdana"/>
              </a:rPr>
              <a:t>pixels</a:t>
            </a:r>
            <a:r>
              <a:rPr lang="en" sz="1668">
                <a:latin typeface="Verdana"/>
                <a:ea typeface="Verdana"/>
                <a:cs typeface="Verdana"/>
                <a:sym typeface="Verdana"/>
              </a:rPr>
              <a:t>/16=</a:t>
            </a:r>
            <a:r>
              <a:rPr i="1" lang="en" sz="1668">
                <a:latin typeface="Verdana"/>
                <a:ea typeface="Verdana"/>
                <a:cs typeface="Verdana"/>
                <a:sym typeface="Verdana"/>
              </a:rPr>
              <a:t>em</a:t>
            </a:r>
            <a:endParaRPr i="1" sz="1668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/>
          </a:p>
        </p:txBody>
      </p:sp>
      <p:pic>
        <p:nvPicPr>
          <p:cNvPr id="459" name="Google Shape;45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850" y="572400"/>
            <a:ext cx="4048726" cy="435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Links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65" name="Google Shape;465;p68"/>
          <p:cNvSpPr txBox="1"/>
          <p:nvPr>
            <p:ph idx="1" type="body"/>
          </p:nvPr>
        </p:nvSpPr>
        <p:spPr>
          <a:xfrm>
            <a:off x="311700" y="1417800"/>
            <a:ext cx="53331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links can be styled differently depending on what state they are in.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four links states are: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a:link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- a normal, unvisited link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a:visited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- a link the user has visited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a:hover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- a link when the user mouses over it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Verdana"/>
              <a:buChar char="●"/>
            </a:pP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a:active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- a link the moment it is clicked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6" name="Google Shape;46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513" y="562950"/>
            <a:ext cx="305752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7200" y="2467950"/>
            <a:ext cx="2669400" cy="252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List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73" name="Google Shape;473;p69"/>
          <p:cNvSpPr txBox="1"/>
          <p:nvPr>
            <p:ph idx="1" type="body"/>
          </p:nvPr>
        </p:nvSpPr>
        <p:spPr>
          <a:xfrm>
            <a:off x="311700" y="1417800"/>
            <a:ext cx="5257500" cy="17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CSS list properties allow you to: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-313769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Set different list item markers for ordered lists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-31376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Set different list item markers for unordered lists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-31376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Set an image as the list item marker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-31376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Add background colors to lists and list items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700" y="3363075"/>
            <a:ext cx="36957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8125" y="702275"/>
            <a:ext cx="3084963" cy="186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1600" y="2724150"/>
            <a:ext cx="2800350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Table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82" name="Google Shape;482;p7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latin typeface="Courier New"/>
                <a:ea typeface="Courier New"/>
                <a:cs typeface="Courier New"/>
                <a:sym typeface="Courier New"/>
              </a:rPr>
              <a:t>Properties</a:t>
            </a:r>
            <a:r>
              <a:rPr lang="en" sz="1750">
                <a:latin typeface="Courier New"/>
                <a:ea typeface="Courier New"/>
                <a:cs typeface="Courier New"/>
                <a:sym typeface="Courier New"/>
              </a:rPr>
              <a:t> For table , td , tr :</a:t>
            </a:r>
            <a:endParaRPr sz="1750">
              <a:latin typeface="Courier New"/>
              <a:ea typeface="Courier New"/>
              <a:cs typeface="Courier New"/>
              <a:sym typeface="Courier New"/>
            </a:endParaRPr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ts val="1750"/>
              <a:buFont typeface="Courier New"/>
              <a:buChar char="●"/>
            </a:pPr>
            <a:r>
              <a:rPr lang="en" sz="1750">
                <a:latin typeface="Courier New"/>
                <a:ea typeface="Courier New"/>
                <a:cs typeface="Courier New"/>
                <a:sym typeface="Courier New"/>
              </a:rPr>
              <a:t>border: 1px solid;</a:t>
            </a:r>
            <a:endParaRPr sz="1750">
              <a:latin typeface="Courier New"/>
              <a:ea typeface="Courier New"/>
              <a:cs typeface="Courier New"/>
              <a:sym typeface="Courier New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Courier New"/>
              <a:buChar char="●"/>
            </a:pPr>
            <a:r>
              <a:rPr lang="en" sz="1550">
                <a:latin typeface="Courier New"/>
                <a:ea typeface="Courier New"/>
                <a:cs typeface="Courier New"/>
                <a:sym typeface="Courier New"/>
              </a:rPr>
              <a:t>border-collapse: collapse;</a:t>
            </a:r>
            <a:endParaRPr sz="1550">
              <a:latin typeface="Courier New"/>
              <a:ea typeface="Courier New"/>
              <a:cs typeface="Courier New"/>
              <a:sym typeface="Courier New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Courier New"/>
              <a:buChar char="●"/>
            </a:pPr>
            <a:r>
              <a:rPr lang="en" sz="1550">
                <a:latin typeface="Courier New"/>
                <a:ea typeface="Courier New"/>
                <a:cs typeface="Courier New"/>
                <a:sym typeface="Courier New"/>
              </a:rPr>
              <a:t>Width : 100%</a:t>
            </a:r>
            <a:endParaRPr sz="1550">
              <a:latin typeface="Courier New"/>
              <a:ea typeface="Courier New"/>
              <a:cs typeface="Courier New"/>
              <a:sym typeface="Courier New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Courier New"/>
              <a:buChar char="●"/>
            </a:pPr>
            <a:r>
              <a:rPr lang="en" sz="1550">
                <a:latin typeface="Courier New"/>
                <a:ea typeface="Courier New"/>
                <a:cs typeface="Courier New"/>
                <a:sym typeface="Courier New"/>
              </a:rPr>
              <a:t>hight:20%</a:t>
            </a:r>
            <a:endParaRPr sz="1550">
              <a:latin typeface="Courier New"/>
              <a:ea typeface="Courier New"/>
              <a:cs typeface="Courier New"/>
              <a:sym typeface="Courier New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Courier New"/>
              <a:buChar char="●"/>
            </a:pPr>
            <a:r>
              <a:rPr lang="en" sz="1550">
                <a:latin typeface="Courier New"/>
                <a:ea typeface="Courier New"/>
                <a:cs typeface="Courier New"/>
                <a:sym typeface="Courier New"/>
              </a:rPr>
              <a:t>Text-align &gt;&gt; td</a:t>
            </a:r>
            <a:endParaRPr sz="1550">
              <a:latin typeface="Courier New"/>
              <a:ea typeface="Courier New"/>
              <a:cs typeface="Courier New"/>
              <a:sym typeface="Courier New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Courier New"/>
              <a:buChar char="●"/>
            </a:pPr>
            <a:r>
              <a:rPr lang="en" sz="1550">
                <a:latin typeface="Courier New"/>
                <a:ea typeface="Courier New"/>
                <a:cs typeface="Courier New"/>
                <a:sym typeface="Courier New"/>
              </a:rPr>
              <a:t>Vertical-align &gt;&gt; td</a:t>
            </a:r>
            <a:endParaRPr sz="155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83" name="Google Shape;48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188" y="419100"/>
            <a:ext cx="3057525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CSS Combinator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89" name="Google Shape;489;p71"/>
          <p:cNvSpPr txBox="1"/>
          <p:nvPr>
            <p:ph idx="1" type="body"/>
          </p:nvPr>
        </p:nvSpPr>
        <p:spPr>
          <a:xfrm>
            <a:off x="311700" y="1417800"/>
            <a:ext cx="82464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A combinator is something that explains the relationship between the selectors.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A CSS selector can contain more than one simple selector. Between the simple selectors, we can include a combinator.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There are four different combinators in CSS: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319643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descendant selector (space)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31964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child selector (&gt;)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31964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adjacent sibling selector (+)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31964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general sibling selector (~)</a:t>
            </a:r>
            <a:endParaRPr sz="18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Descendant</a:t>
            </a:r>
            <a:r>
              <a:rPr lang="en">
                <a:solidFill>
                  <a:srgbClr val="FFFF00"/>
                </a:solidFill>
              </a:rPr>
              <a:t>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95" name="Google Shape;495;p72"/>
          <p:cNvSpPr txBox="1"/>
          <p:nvPr>
            <p:ph idx="1" type="body"/>
          </p:nvPr>
        </p:nvSpPr>
        <p:spPr>
          <a:xfrm>
            <a:off x="311700" y="1417800"/>
            <a:ext cx="82464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descendant selector matches all elements that are descendants of a specified element</a:t>
            </a:r>
            <a:endParaRPr sz="22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96" name="Google Shape;49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000" y="2432263"/>
            <a:ext cx="339090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600" y="3196988"/>
            <a:ext cx="3962400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Child </a:t>
            </a:r>
            <a:r>
              <a:rPr lang="en">
                <a:solidFill>
                  <a:srgbClr val="FFFF00"/>
                </a:solidFill>
              </a:rPr>
              <a:t>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503" name="Google Shape;503;p73"/>
          <p:cNvSpPr txBox="1"/>
          <p:nvPr>
            <p:ph idx="1" type="body"/>
          </p:nvPr>
        </p:nvSpPr>
        <p:spPr>
          <a:xfrm>
            <a:off x="311700" y="1417800"/>
            <a:ext cx="82464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child selector selects all elements that are the children of a specified element</a:t>
            </a:r>
            <a:endParaRPr sz="26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04" name="Google Shape;50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000" y="1989900"/>
            <a:ext cx="34671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500" y="3038938"/>
            <a:ext cx="400050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Adjust Sibling</a:t>
            </a:r>
            <a:r>
              <a:rPr lang="en">
                <a:solidFill>
                  <a:srgbClr val="FFFF00"/>
                </a:solidFill>
              </a:rPr>
              <a:t>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511" name="Google Shape;511;p74"/>
          <p:cNvSpPr txBox="1"/>
          <p:nvPr>
            <p:ph idx="1" type="body"/>
          </p:nvPr>
        </p:nvSpPr>
        <p:spPr>
          <a:xfrm>
            <a:off x="311700" y="1417800"/>
            <a:ext cx="44427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adjacent sibling selector is used to select an element that is directly after another specific element.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Sibling elements must have the same parent element, and "adjacent" means "immediately following".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" name="Google Shape;51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6338" y="517825"/>
            <a:ext cx="317182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975" y="3661263"/>
            <a:ext cx="384810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General </a:t>
            </a:r>
            <a:r>
              <a:rPr lang="en">
                <a:solidFill>
                  <a:srgbClr val="FFFF00"/>
                </a:solidFill>
              </a:rPr>
              <a:t>Sibling Selector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519" name="Google Shape;519;p75"/>
          <p:cNvSpPr txBox="1"/>
          <p:nvPr>
            <p:ph idx="1" type="body"/>
          </p:nvPr>
        </p:nvSpPr>
        <p:spPr>
          <a:xfrm>
            <a:off x="311700" y="1417800"/>
            <a:ext cx="5058300" cy="14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rPr lang="en" sz="1770">
                <a:latin typeface="Verdana"/>
                <a:ea typeface="Verdana"/>
                <a:cs typeface="Verdana"/>
                <a:sym typeface="Verdana"/>
              </a:rPr>
              <a:t>The general sibling selector selects all elements that are next siblings of a specified element.</a:t>
            </a:r>
            <a:endParaRPr sz="237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t/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6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20" name="Google Shape;52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000" y="652450"/>
            <a:ext cx="3409950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8025" y="2824125"/>
            <a:ext cx="41148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Task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527" name="Google Shape;527;p7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button to open new page that contains a form to upload new video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form contains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Title , </a:t>
            </a:r>
            <a:r>
              <a:rPr lang="en"/>
              <a:t>Description</a:t>
            </a:r>
            <a:r>
              <a:rPr lang="en"/>
              <a:t> , upload ,  </a:t>
            </a:r>
            <a:r>
              <a:rPr lang="en"/>
              <a:t>sharing</a:t>
            </a:r>
            <a:r>
              <a:rPr lang="en"/>
              <a:t> date 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video for kid ? 2 radio button (yes , no 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submit button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submit the data , new page with success message </a:t>
            </a:r>
            <a:r>
              <a:rPr lang="en"/>
              <a:t>opened</a:t>
            </a:r>
            <a:r>
              <a:rPr lang="en"/>
              <a:t>  and when click ok it returns to main page (playlist)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Task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533" name="Google Shape;53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25" y="1017725"/>
            <a:ext cx="3189562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6162" y="1170150"/>
            <a:ext cx="320573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