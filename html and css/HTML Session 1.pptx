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Playfair Display"/>
      <p:regular r:id="rId45"/>
      <p:bold r:id="rId46"/>
      <p:italic r:id="rId47"/>
      <p:boldItalic r:id="rId48"/>
    </p:embeddedFont>
    <p:embeddedFont>
      <p:font typeface="Lat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font" Target="fonts/PlayfairDisplay-bold.fntdata"/><Relationship Id="rId45" Type="http://schemas.openxmlformats.org/officeDocument/2006/relationships/font" Target="fonts/PlayfairDisplay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PlayfairDisplay-boldItalic.fntdata"/><Relationship Id="rId47" Type="http://schemas.openxmlformats.org/officeDocument/2006/relationships/font" Target="fonts/PlayfairDisplay-italic.fntdata"/><Relationship Id="rId49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Lato-italic.fntdata"/><Relationship Id="rId50" Type="http://schemas.openxmlformats.org/officeDocument/2006/relationships/font" Target="fonts/Lato-bold.fntdata"/><Relationship Id="rId52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8150bc7d7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8150bc7d7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58150bc7d7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58150bc7d7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8150bc7d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8150bc7d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1e48d5ac4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1e48d5ac4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5a089a64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5a089a64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e48d5ac4f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e48d5ac4f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e48d5ac4f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e48d5ac4f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5a089a647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5a089a64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e48d5ac4f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e48d5ac4f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48d5ac4f5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48d5ac4f5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e49a05d8f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1e49a05d8f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e49a05d8f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e49a05d8f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1e49a05d8f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1e49a05d8f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e49a05d8f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e49a05d8f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e49a05d8fd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e49a05d8fd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1e49a05d8fd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1e49a05d8fd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5a923c8c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5a923c8c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e49a05d8fd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1e49a05d8fd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9e2ab3c7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59e2ab3c7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e49a05d8fd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e49a05d8fd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1e49a05d8fd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1e49a05d8fd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e49a05d8f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e49a05d8f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e49a05d8f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e49a05d8f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5a4f202f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25a4f202f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1e49a05d8fd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1e49a05d8fd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7472dc37f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27472dc37f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1e49a05d8f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1e49a05d8f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e49a05d8fd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e49a05d8fd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1e49a05d8fd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1e49a05d8fd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e49a05d8fd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1e49a05d8f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5a43f46e2d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5a43f46e2d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1e49a05d8fd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1e49a05d8fd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5a43f46e2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25a43f46e2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5a63e9445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5a63e9445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5a63e9445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25a63e9445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e49a05d8fd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e49a05d8fd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a923c8c3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25a923c8c3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5a923c8c3d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5a923c8c3d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733219" y="2235351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100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509550" y="1921350"/>
            <a:ext cx="8124900" cy="130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/>
          <p:nvPr/>
        </p:nvSpPr>
        <p:spPr>
          <a:xfrm>
            <a:off x="-125" y="5045700"/>
            <a:ext cx="9144000" cy="9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19425" y="1154195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17950"/>
            <a:ext cx="3999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Google Shape;37;p7"/>
          <p:cNvCxnSpPr/>
          <p:nvPr/>
        </p:nvCxnSpPr>
        <p:spPr>
          <a:xfrm>
            <a:off x="411044" y="1417772"/>
            <a:ext cx="385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640350"/>
            <a:ext cx="2808000" cy="292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8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5" name="Google Shape;4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9"/>
          <p:cNvSpPr/>
          <p:nvPr/>
        </p:nvSpPr>
        <p:spPr>
          <a:xfrm>
            <a:off x="4572000" y="-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8" name="Google Shape;4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9"/>
          <p:cNvSpPr txBox="1"/>
          <p:nvPr>
            <p:ph type="title"/>
          </p:nvPr>
        </p:nvSpPr>
        <p:spPr>
          <a:xfrm>
            <a:off x="265500" y="1084625"/>
            <a:ext cx="4045200" cy="170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265500" y="2845200"/>
            <a:ext cx="4045200" cy="14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100"/>
              <a:buNone/>
              <a:defRPr sz="21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/>
          <p:nvPr/>
        </p:nvSpPr>
        <p:spPr>
          <a:xfrm>
            <a:off x="586721" y="0"/>
            <a:ext cx="7970700" cy="66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1"/>
          <p:cNvSpPr/>
          <p:nvPr/>
        </p:nvSpPr>
        <p:spPr>
          <a:xfrm>
            <a:off x="586721" y="5076900"/>
            <a:ext cx="7970700" cy="6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586725" y="1353788"/>
            <a:ext cx="79707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800"/>
              <a:buNone/>
              <a:defRPr sz="10800">
                <a:solidFill>
                  <a:schemeClr val="accent6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586725" y="2968388"/>
            <a:ext cx="79707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lue-gold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facebook.com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w3schools.com/tags/ref_attributes.asp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0.png"/><Relationship Id="rId4" Type="http://schemas.openxmlformats.org/officeDocument/2006/relationships/image" Target="../media/image38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4.png"/><Relationship Id="rId4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3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Relationship Id="rId4" Type="http://schemas.openxmlformats.org/officeDocument/2006/relationships/image" Target="../media/image4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/>
          <p:nvPr>
            <p:ph type="ctrTitle"/>
          </p:nvPr>
        </p:nvSpPr>
        <p:spPr>
          <a:xfrm>
            <a:off x="630600" y="136800"/>
            <a:ext cx="7893000" cy="185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HTML Session 1</a:t>
            </a:r>
            <a:endParaRPr/>
          </a:p>
        </p:txBody>
      </p:sp>
      <p:sp>
        <p:nvSpPr>
          <p:cNvPr id="69" name="Google Shape;69;p13"/>
          <p:cNvSpPr txBox="1"/>
          <p:nvPr>
            <p:ph idx="1" type="subTitle"/>
          </p:nvPr>
        </p:nvSpPr>
        <p:spPr>
          <a:xfrm>
            <a:off x="630600" y="3228375"/>
            <a:ext cx="7893000" cy="127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Basant Mohamed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What is HTML?</a:t>
            </a:r>
            <a:r>
              <a:rPr lang="en"/>
              <a:t> (</a:t>
            </a:r>
            <a:r>
              <a:rPr b="0" lang="en" sz="2577">
                <a:latin typeface="Lato"/>
                <a:ea typeface="Lato"/>
                <a:cs typeface="Lato"/>
                <a:sym typeface="Lato"/>
              </a:rPr>
              <a:t>Hybrid Text Markup Language</a:t>
            </a:r>
            <a:r>
              <a:rPr lang="en"/>
              <a:t>)</a:t>
            </a:r>
            <a:endParaRPr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65125" lvl="0" marL="457200" rtl="0" algn="l">
              <a:spcBef>
                <a:spcPts val="1100"/>
              </a:spcBef>
              <a:spcAft>
                <a:spcPts val="0"/>
              </a:spcAft>
              <a:buClr>
                <a:srgbClr val="FFFF00"/>
              </a:buClr>
              <a:buSzPts val="2150"/>
              <a:buFont typeface="Verdana"/>
              <a:buChar char="❏"/>
            </a:pPr>
            <a:r>
              <a:rPr lang="en" sz="2150">
                <a:latin typeface="Verdana"/>
                <a:ea typeface="Verdana"/>
                <a:cs typeface="Verdana"/>
                <a:sym typeface="Verdana"/>
              </a:rPr>
              <a:t>The standard markup language for creating Web pages</a:t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50"/>
              <a:buFont typeface="Verdana"/>
              <a:buChar char="❏"/>
            </a:pPr>
            <a:r>
              <a:rPr lang="en" sz="2150">
                <a:latin typeface="Verdana"/>
                <a:ea typeface="Verdana"/>
                <a:cs typeface="Verdana"/>
                <a:sym typeface="Verdana"/>
              </a:rPr>
              <a:t>Describes the structure of a Web page</a:t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50"/>
              <a:buFont typeface="Verdana"/>
              <a:buChar char="❏"/>
            </a:pPr>
            <a:r>
              <a:rPr lang="en" sz="2150">
                <a:latin typeface="Verdana"/>
                <a:ea typeface="Verdana"/>
                <a:cs typeface="Verdana"/>
                <a:sym typeface="Verdana"/>
              </a:rPr>
              <a:t>Consists of a series of elements</a:t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-365125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150"/>
              <a:buFont typeface="Verdana"/>
              <a:buChar char="❏"/>
            </a:pPr>
            <a:r>
              <a:rPr lang="en" sz="2150">
                <a:latin typeface="Verdana"/>
                <a:ea typeface="Verdana"/>
                <a:cs typeface="Verdana"/>
                <a:sym typeface="Verdana"/>
              </a:rPr>
              <a:t>HTML elements tell the browser how to display the content</a:t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1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0500" y="2985801"/>
            <a:ext cx="1687173" cy="1687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History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311700" y="1417800"/>
            <a:ext cx="5774100" cy="3150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Playfair Display"/>
              <a:buChar char="❏"/>
            </a:pP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HTML was created by Berners-Lee in late 1991 but was not officially released.</a:t>
            </a: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sz="2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Playfair Display"/>
              <a:buChar char="❏"/>
            </a:pP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HTML 1.0 was released in 1993</a:t>
            </a:r>
            <a:endParaRPr sz="2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Playfair Display"/>
              <a:buChar char="❏"/>
            </a:pP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Then comes HTML 2.0, published in 1995,</a:t>
            </a:r>
            <a:endParaRPr sz="2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Playfair Display"/>
              <a:buChar char="❏"/>
            </a:pP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HTML 4.01 was published in late 1999 and was a major version of HTML.</a:t>
            </a:r>
            <a:endParaRPr sz="2200"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200"/>
              <a:buFont typeface="Playfair Display"/>
              <a:buChar char="❏"/>
            </a:pPr>
            <a:r>
              <a:rPr lang="en" sz="2200">
                <a:latin typeface="Playfair Display"/>
                <a:ea typeface="Playfair Display"/>
                <a:cs typeface="Playfair Display"/>
                <a:sym typeface="Playfair Display"/>
              </a:rPr>
              <a:t>HTML 5 at 2012</a:t>
            </a:r>
            <a:endParaRPr sz="2200"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6847" y="942200"/>
            <a:ext cx="2605450" cy="32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311700" y="372725"/>
            <a:ext cx="8520600" cy="14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100">
                <a:solidFill>
                  <a:srgbClr val="FFFF00"/>
                </a:solidFill>
              </a:rPr>
              <a:t>Let’s take a look </a:t>
            </a:r>
            <a:endParaRPr sz="6100">
              <a:solidFill>
                <a:srgbClr val="FFFF00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3413" y="1405800"/>
            <a:ext cx="2997176" cy="2997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HTML element?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An HTML element is defined by a start tag, some content, and an end tag: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101600" marR="10160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&lt;tagname&gt; Content goes here... &lt;/tagname&gt;</a:t>
            </a:r>
            <a:endParaRPr b="1" sz="19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HTML File Skelton: 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&lt;!DOCTYPE&gt;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&lt;html&gt;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&lt;head&gt;......&lt;/head&gt;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&lt;body&gt;......&lt;/body&gt;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&lt;/html&gt;</a:t>
            </a:r>
            <a:endParaRPr sz="150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173875" y="2305525"/>
            <a:ext cx="3064500" cy="25473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5456900" y="2490950"/>
            <a:ext cx="2498700" cy="21666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5652100" y="2978950"/>
            <a:ext cx="2059500" cy="400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5710650" y="3476725"/>
            <a:ext cx="2059500" cy="995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 txBox="1"/>
          <p:nvPr/>
        </p:nvSpPr>
        <p:spPr>
          <a:xfrm>
            <a:off x="5456900" y="2490950"/>
            <a:ext cx="5367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html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944900" y="3052150"/>
            <a:ext cx="771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head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6087525" y="3634000"/>
            <a:ext cx="7710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Lato"/>
                <a:ea typeface="Lato"/>
                <a:cs typeface="Lato"/>
                <a:sym typeface="Lato"/>
              </a:rPr>
              <a:t>body</a:t>
            </a:r>
            <a:endParaRPr sz="11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Elements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925" y="1181800"/>
            <a:ext cx="7587850" cy="3671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HTML attributes provide additional information about HTML elements.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All HTML elements can have attributes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provide additional information about elements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specified in the start tag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name/value pairs like: name="value"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Ex: 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&lt;a </a:t>
            </a:r>
            <a:r>
              <a:rPr lang="en" sz="1500">
                <a:solidFill>
                  <a:schemeClr val="dk2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href=”</a:t>
            </a:r>
            <a:r>
              <a:rPr lang="en" sz="1500" u="sng">
                <a:solidFill>
                  <a:schemeClr val="dk2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www.facebook.com</a:t>
            </a:r>
            <a:r>
              <a:rPr lang="en" sz="1500">
                <a:solidFill>
                  <a:schemeClr val="dk2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”</a:t>
            </a: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&gt;&lt;/a&gt;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&lt;img </a:t>
            </a:r>
            <a:r>
              <a:rPr lang="en" sz="1500">
                <a:solidFill>
                  <a:schemeClr val="dk2"/>
                </a:solidFill>
                <a:highlight>
                  <a:srgbClr val="FFFF00"/>
                </a:highlight>
                <a:latin typeface="Verdana"/>
                <a:ea typeface="Verdana"/>
                <a:cs typeface="Verdana"/>
                <a:sym typeface="Verdana"/>
              </a:rPr>
              <a:t>src=”image.png”</a:t>
            </a: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&gt;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20" name="Google Shape;120;p20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Attributes : id , class ,style ,translate , tabindex, hidden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More: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https://www.w3schools.com/tags/ref_attributes.asp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HTML Events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HTML has the ability to let events trigger actions in a browser, like starting a JavaScript when a user clicks on an element.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Window events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:onload , onresize , onafterprint ,onbeforeprint,....etc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Mouse events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 :  onclick , onmousedown , onmouseover ,....etc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Keyboard events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: onkeyup , onkeydown , onkeypress ,...etc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Clipboard event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: oncopy , onpaste , oncut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Tags</a:t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&lt;!DOCTYPE&gt; </a:t>
            </a:r>
            <a:r>
              <a:rPr lang="en"/>
              <a:t>: </a:t>
            </a:r>
            <a:r>
              <a:rPr lang="en"/>
              <a:t>Identify</a:t>
            </a:r>
            <a:r>
              <a:rPr lang="en"/>
              <a:t> type of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&lt;html&gt;&lt;/html&gt;</a:t>
            </a:r>
            <a:r>
              <a:rPr lang="en"/>
              <a:t> : start of actual file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&lt;head&gt;&lt;/head&gt;</a:t>
            </a:r>
            <a:r>
              <a:rPr lang="en"/>
              <a:t> : contains &lt;title&gt; , &lt;script&gt;  and &lt;meta&gt;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&lt;body&gt;&lt;/body&gt;</a:t>
            </a:r>
            <a:r>
              <a:rPr lang="en"/>
              <a:t> : contains the fisable part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&lt;h1&gt;&lt;/h1&gt; , &lt;h2&gt;</a:t>
            </a:r>
            <a:r>
              <a:rPr lang="en">
                <a:solidFill>
                  <a:srgbClr val="FFFF00"/>
                </a:solidFill>
              </a:rPr>
              <a:t>&lt;/h2&gt;</a:t>
            </a:r>
            <a:r>
              <a:rPr lang="en">
                <a:solidFill>
                  <a:srgbClr val="FFFF00"/>
                </a:solidFill>
              </a:rPr>
              <a:t> ,&lt;h3&gt;</a:t>
            </a:r>
            <a:r>
              <a:rPr lang="en">
                <a:solidFill>
                  <a:srgbClr val="FFFF00"/>
                </a:solidFill>
              </a:rPr>
              <a:t>&lt;/h3&gt;</a:t>
            </a:r>
            <a:r>
              <a:rPr lang="en">
                <a:solidFill>
                  <a:srgbClr val="FFFF00"/>
                </a:solidFill>
              </a:rPr>
              <a:t>,&lt;h4&gt;</a:t>
            </a:r>
            <a:r>
              <a:rPr lang="en">
                <a:solidFill>
                  <a:srgbClr val="FFFF00"/>
                </a:solidFill>
              </a:rPr>
              <a:t>&lt;/h4&gt;</a:t>
            </a:r>
            <a:r>
              <a:rPr lang="en">
                <a:solidFill>
                  <a:srgbClr val="FFFF00"/>
                </a:solidFill>
              </a:rPr>
              <a:t>,&lt;h5&gt;</a:t>
            </a:r>
            <a:r>
              <a:rPr lang="en">
                <a:solidFill>
                  <a:srgbClr val="FFFF00"/>
                </a:solidFill>
              </a:rPr>
              <a:t>&lt;/h5&gt;</a:t>
            </a:r>
            <a:r>
              <a:rPr lang="en">
                <a:solidFill>
                  <a:srgbClr val="FFFF00"/>
                </a:solidFill>
              </a:rPr>
              <a:t>, &lt;h6&gt;</a:t>
            </a:r>
            <a:r>
              <a:rPr lang="en">
                <a:solidFill>
                  <a:srgbClr val="FFFF00"/>
                </a:solidFill>
              </a:rPr>
              <a:t>&lt;/h6&gt;</a:t>
            </a:r>
            <a:r>
              <a:rPr lang="en"/>
              <a:t> : Heading tags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&lt;p&gt;&lt;/p&gt;</a:t>
            </a:r>
            <a:r>
              <a:rPr lang="en"/>
              <a:t> : to write paragraph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00"/>
                </a:solidFill>
              </a:rPr>
              <a:t>&lt;br&gt; </a:t>
            </a:r>
            <a:r>
              <a:rPr lang="en"/>
              <a:t>: break line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HTML Tags</a:t>
            </a:r>
            <a:endParaRPr/>
          </a:p>
        </p:txBody>
      </p:sp>
      <p:sp>
        <p:nvSpPr>
          <p:cNvPr id="138" name="Google Shape;138;p23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&lt;a&gt;&lt;/a&gt;</a:t>
            </a:r>
            <a:r>
              <a:rPr lang="en"/>
              <a:t>: add link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&lt;img&gt;</a:t>
            </a:r>
            <a:r>
              <a:rPr lang="en"/>
              <a:t> : add image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&lt;button&gt;&lt;/button&gt;</a:t>
            </a:r>
            <a:r>
              <a:rPr lang="en"/>
              <a:t> : add button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&lt;input&gt;</a:t>
            </a:r>
            <a:r>
              <a:rPr lang="en"/>
              <a:t> : add text </a:t>
            </a:r>
            <a:r>
              <a:rPr lang="en"/>
              <a:t>field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&lt;table&gt;&lt;/table&gt;</a:t>
            </a:r>
            <a:r>
              <a:rPr lang="en"/>
              <a:t>: create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&lt;ul&gt;&lt;/ul&gt;</a:t>
            </a:r>
            <a:r>
              <a:rPr lang="en"/>
              <a:t> : unordered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&lt;ol&gt;&lt;/ol&gt;</a:t>
            </a:r>
            <a:r>
              <a:rPr lang="en"/>
              <a:t> : ordered list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&lt;form&gt;&lt;/from&gt;</a:t>
            </a:r>
            <a:r>
              <a:rPr lang="en"/>
              <a:t> : add form with inputs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FFFF00"/>
                </a:solidFill>
              </a:rPr>
              <a:t>&lt;div&gt;&lt;/div&gt;</a:t>
            </a:r>
            <a:r>
              <a:rPr lang="en"/>
              <a:t>: add any element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Head Tag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62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 element is a container for metadata (data about data),</a:t>
            </a:r>
            <a:endParaRPr sz="171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data about the HTML document</a:t>
            </a: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 and is placed between the</a:t>
            </a:r>
            <a:r>
              <a:rPr lang="en" sz="1712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62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&lt;html&gt;</a:t>
            </a: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 tag and the </a:t>
            </a:r>
            <a:r>
              <a:rPr lang="en" sz="1762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r>
              <a:rPr lang="en" sz="1712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tag.</a:t>
            </a:r>
            <a:endParaRPr sz="171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Metadata is not displayed.</a:t>
            </a:r>
            <a:endParaRPr sz="171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12">
                <a:latin typeface="Verdana"/>
                <a:ea typeface="Verdana"/>
                <a:cs typeface="Verdana"/>
                <a:sym typeface="Verdana"/>
              </a:rPr>
              <a:t>Metadata typically define the document title, character set, styles, scripts, and other meta information.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The HTML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&lt;head&gt;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 element is a container for the following elements: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,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&lt;meta&gt;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lang="en" sz="17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&lt;base&gt;</a:t>
            </a: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</a:t>
            </a:r>
            <a:r>
              <a:rPr lang="en">
                <a:solidFill>
                  <a:srgbClr val="FFFF00"/>
                </a:solidFill>
              </a:rPr>
              <a:t>&lt;title&gt;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56" name="Google Shape;156;p2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 defines the title of the document. The title must be text-only, and it is shown in the browser's title bar or in the page's tab.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&lt;title&gt;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 is required in HTML documents!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888" y="2659588"/>
            <a:ext cx="3095625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15100" y="3198550"/>
            <a:ext cx="4611925" cy="6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 </a:t>
            </a:r>
            <a:r>
              <a:rPr lang="en">
                <a:solidFill>
                  <a:srgbClr val="FFFF00"/>
                </a:solidFill>
              </a:rPr>
              <a:t>&lt;style&gt;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&lt;style&gt;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element is used to define style information for a single HTML page</a:t>
            </a:r>
            <a:endParaRPr sz="19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475" y="1925900"/>
            <a:ext cx="41529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3150" y="2325050"/>
            <a:ext cx="3673826" cy="240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 </a:t>
            </a:r>
            <a:r>
              <a:rPr lang="en">
                <a:solidFill>
                  <a:srgbClr val="FFFF00"/>
                </a:solidFill>
              </a:rPr>
              <a:t>&lt;link&gt;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417800"/>
            <a:ext cx="43839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element defines the relationship between the current document and an external resource.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&lt;link&gt;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tag is most often used to link to external style sheets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Using 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link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tag you can add </a:t>
            </a:r>
            <a:r>
              <a:rPr b="1" lang="en" sz="1650" u="sng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favicon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to display beside page title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3" name="Google Shape;17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4100" y="1417800"/>
            <a:ext cx="3898199" cy="283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50" y="4048100"/>
            <a:ext cx="4063000" cy="33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Script </a:t>
            </a:r>
            <a:r>
              <a:rPr lang="en">
                <a:solidFill>
                  <a:srgbClr val="FFFF00"/>
                </a:solidFill>
              </a:rPr>
              <a:t>&lt;script&gt;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80" name="Google Shape;180;p29"/>
          <p:cNvSpPr txBox="1"/>
          <p:nvPr>
            <p:ph idx="1" type="body"/>
          </p:nvPr>
        </p:nvSpPr>
        <p:spPr>
          <a:xfrm>
            <a:off x="311700" y="1417800"/>
            <a:ext cx="43839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&lt;script&gt;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element is used to define client-side JavaScripts.</a:t>
            </a:r>
            <a:endParaRPr sz="26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1" name="Google Shape;18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725" y="457650"/>
            <a:ext cx="4143600" cy="287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9"/>
          <p:cNvSpPr txBox="1"/>
          <p:nvPr/>
        </p:nvSpPr>
        <p:spPr>
          <a:xfrm>
            <a:off x="576925" y="3642625"/>
            <a:ext cx="7281000" cy="9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Note :</a:t>
            </a:r>
            <a:endParaRPr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 More Info visit &gt;&gt;&gt; </a:t>
            </a:r>
            <a:r>
              <a:rPr lang="en">
                <a:solidFill>
                  <a:srgbClr val="FFFF00"/>
                </a:solidFill>
                <a:latin typeface="Lato"/>
                <a:ea typeface="Lato"/>
                <a:cs typeface="Lato"/>
                <a:sym typeface="Lato"/>
              </a:rPr>
              <a:t>https://www.w3schools.com/html/html_head.asp</a:t>
            </a:r>
            <a:endParaRPr>
              <a:solidFill>
                <a:srgbClr val="FFFF00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188" name="Google Shape;18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Body </a:t>
            </a:r>
            <a:r>
              <a:rPr lang="en">
                <a:solidFill>
                  <a:srgbClr val="FFFF00"/>
                </a:solidFill>
              </a:rPr>
              <a:t>Tag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194" name="Google Shape;194;p31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tag defines the document's body.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element contains all the contents of an HTML document, such as headings, paragraphs, images, hyperlinks, tables, lists, etc.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Note: There can only be one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&lt;body&gt;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element in an HTML document.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1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Body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00" name="Google Shape;200;p32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lang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to define language.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bgColor 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to define background color. (not used in HTML5)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background 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to define background image.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dir 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to define direction of page (rtl , ltr) color.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1712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1" name="Google Shape;20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0825" y="3487863"/>
            <a:ext cx="5676900" cy="119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Heading 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07" name="Google Shape;207;p33"/>
          <p:cNvSpPr txBox="1"/>
          <p:nvPr>
            <p:ph idx="1" type="body"/>
          </p:nvPr>
        </p:nvSpPr>
        <p:spPr>
          <a:xfrm>
            <a:off x="311700" y="1119838"/>
            <a:ext cx="8520600" cy="80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HTML headings are titles or subtitles that you want to display on a webpage.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Can take all global </a:t>
            </a: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attributes</a:t>
            </a:r>
            <a:endParaRPr sz="15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8" name="Google Shape;20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450" y="2026550"/>
            <a:ext cx="3481350" cy="292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14450" y="1895600"/>
            <a:ext cx="3733800" cy="30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Paragraph</a:t>
            </a:r>
            <a:r>
              <a:rPr lang="en">
                <a:solidFill>
                  <a:srgbClr val="FFFF00"/>
                </a:solidFill>
              </a:rPr>
              <a:t> &lt;p&gt;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latin typeface="Verdana"/>
                <a:ea typeface="Verdana"/>
                <a:cs typeface="Verdana"/>
                <a:sym typeface="Verdana"/>
              </a:rPr>
              <a:t>A paragraph always starts on a new line, and is usually a block of text.</a:t>
            </a:r>
            <a:endParaRPr sz="2400"/>
          </a:p>
        </p:txBody>
      </p:sp>
      <p:pic>
        <p:nvPicPr>
          <p:cNvPr id="216" name="Google Shape;2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338" y="1865925"/>
            <a:ext cx="3743325" cy="2914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3288" y="2059375"/>
            <a:ext cx="3781425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Text </a:t>
            </a:r>
            <a:r>
              <a:rPr lang="en">
                <a:solidFill>
                  <a:srgbClr val="FFFF00"/>
                </a:solidFill>
              </a:rPr>
              <a:t>Formatting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311700" y="1417800"/>
            <a:ext cx="8520600" cy="4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Formatting elements were designed to display special types of text</a:t>
            </a:r>
            <a:endParaRPr sz="2800"/>
          </a:p>
        </p:txBody>
      </p:sp>
      <p:pic>
        <p:nvPicPr>
          <p:cNvPr id="224" name="Google Shape;22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89300"/>
            <a:ext cx="3152775" cy="170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88075" y="1836900"/>
            <a:ext cx="2657475" cy="292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HyperLink &lt;a&gt;&lt;/a&gt;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31" name="Google Shape;231;p36"/>
          <p:cNvSpPr txBox="1"/>
          <p:nvPr>
            <p:ph idx="1" type="body"/>
          </p:nvPr>
        </p:nvSpPr>
        <p:spPr>
          <a:xfrm>
            <a:off x="311700" y="1299825"/>
            <a:ext cx="8520600" cy="41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You can click on a link and jump to another document.</a:t>
            </a:r>
            <a:endParaRPr sz="3100"/>
          </a:p>
        </p:txBody>
      </p:sp>
      <p:pic>
        <p:nvPicPr>
          <p:cNvPr id="232" name="Google Shape;2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379125"/>
            <a:ext cx="2418425" cy="150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1725" y="1672388"/>
            <a:ext cx="6800850" cy="159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HyperLink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39" name="Google Shape;239;p37"/>
          <p:cNvSpPr txBox="1"/>
          <p:nvPr>
            <p:ph idx="1" type="body"/>
          </p:nvPr>
        </p:nvSpPr>
        <p:spPr>
          <a:xfrm>
            <a:off x="311700" y="1299825"/>
            <a:ext cx="8520600" cy="349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href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 attribute, which indicates the link's destination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target 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:  attribute specifies where to open the linked document (_blank , _self , _top , _parent)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download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 Specifies that the target will be downloaded when a user clicks on the hyperlink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(only work if href is set)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0" name="Google Shape;240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550" y="3344538"/>
            <a:ext cx="634365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Image </a:t>
            </a:r>
            <a:r>
              <a:rPr lang="en">
                <a:solidFill>
                  <a:srgbClr val="FFFF00"/>
                </a:solidFill>
              </a:rPr>
              <a:t>&lt;img/&gt;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46" name="Google Shape;246;p38"/>
          <p:cNvSpPr txBox="1"/>
          <p:nvPr>
            <p:ph idx="1" type="body"/>
          </p:nvPr>
        </p:nvSpPr>
        <p:spPr>
          <a:xfrm>
            <a:off x="311700" y="1299825"/>
            <a:ext cx="85206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lang="en" sz="1391">
                <a:latin typeface="Verdana"/>
                <a:ea typeface="Verdana"/>
                <a:cs typeface="Verdana"/>
                <a:sym typeface="Verdana"/>
              </a:rPr>
              <a:t>The HTML </a:t>
            </a:r>
            <a:r>
              <a:rPr lang="en" sz="143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&lt;img&gt;</a:t>
            </a:r>
            <a:r>
              <a:rPr lang="en" sz="1391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391">
                <a:latin typeface="Verdana"/>
                <a:ea typeface="Verdana"/>
                <a:cs typeface="Verdana"/>
                <a:sym typeface="Verdana"/>
              </a:rPr>
              <a:t>tag is used to embed an image in a web page.</a:t>
            </a:r>
            <a:endParaRPr sz="139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rPr lang="en" sz="1391">
                <a:latin typeface="Verdana"/>
                <a:ea typeface="Verdana"/>
                <a:cs typeface="Verdana"/>
                <a:sym typeface="Verdana"/>
              </a:rPr>
              <a:t>Images are not technically inserted into a web page; images are linked to web pages. The </a:t>
            </a:r>
            <a:r>
              <a:rPr lang="en" sz="143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&lt;img&gt;</a:t>
            </a:r>
            <a:r>
              <a:rPr lang="en" sz="1391">
                <a:latin typeface="Verdana"/>
                <a:ea typeface="Verdana"/>
                <a:cs typeface="Verdana"/>
                <a:sym typeface="Verdana"/>
              </a:rPr>
              <a:t> tag creates a holding space for the referenced image.</a:t>
            </a:r>
            <a:endParaRPr sz="139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123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7" name="Google Shape;247;p38"/>
          <p:cNvSpPr txBox="1"/>
          <p:nvPr>
            <p:ph idx="1" type="body"/>
          </p:nvPr>
        </p:nvSpPr>
        <p:spPr>
          <a:xfrm>
            <a:off x="399525" y="2448600"/>
            <a:ext cx="8355600" cy="16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src</a:t>
            </a:r>
            <a:r>
              <a:rPr lang="en" sz="1850">
                <a:latin typeface="Verdana"/>
                <a:ea typeface="Verdana"/>
                <a:cs typeface="Verdana"/>
                <a:sym typeface="Verdana"/>
              </a:rPr>
              <a:t>: 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 attribute,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Specifies the path to the image</a:t>
            </a:r>
            <a:endParaRPr sz="18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alt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:  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Specifies an alternate text for the image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7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hight , width</a:t>
            </a:r>
            <a:r>
              <a:rPr lang="en" sz="1750">
                <a:latin typeface="Verdana"/>
                <a:ea typeface="Verdana"/>
                <a:cs typeface="Verdana"/>
                <a:sym typeface="Verdana"/>
              </a:rPr>
              <a:t>: To define size of image in pixel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8" name="Google Shape;248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6125" y="4030300"/>
            <a:ext cx="7305675" cy="6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File Paths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54" name="Google Shape;254;p39"/>
          <p:cNvSpPr txBox="1"/>
          <p:nvPr>
            <p:ph idx="1" type="body"/>
          </p:nvPr>
        </p:nvSpPr>
        <p:spPr>
          <a:xfrm>
            <a:off x="311700" y="1273525"/>
            <a:ext cx="8057100" cy="13926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1900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Relative File Paths :</a:t>
            </a:r>
            <a:r>
              <a:rPr lang="en" sz="1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 relative file path points to a file relative to the current page</a:t>
            </a:r>
            <a:endParaRPr sz="19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139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123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5" name="Google Shape;255;p39"/>
          <p:cNvSpPr txBox="1"/>
          <p:nvPr>
            <p:ph idx="1" type="body"/>
          </p:nvPr>
        </p:nvSpPr>
        <p:spPr>
          <a:xfrm>
            <a:off x="311700" y="2875000"/>
            <a:ext cx="8057100" cy="1626000"/>
          </a:xfrm>
          <a:prstGeom prst="rect">
            <a:avLst/>
          </a:prstGeom>
          <a:solidFill>
            <a:srgbClr val="FFFF00"/>
          </a:solidFill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" sz="3465" u="sng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Absolute File Paths :</a:t>
            </a:r>
            <a:r>
              <a:rPr lang="en" sz="346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 absolute file path is the full URL to a file:</a:t>
            </a:r>
            <a:endParaRPr sz="346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850">
              <a:solidFill>
                <a:srgbClr val="FFFF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56" name="Google Shape;25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750" y="3560025"/>
            <a:ext cx="691515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375" y="1982875"/>
            <a:ext cx="3876675" cy="53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Div &lt;div&gt;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63" name="Google Shape;263;p40"/>
          <p:cNvSpPr txBox="1"/>
          <p:nvPr>
            <p:ph idx="1" type="body"/>
          </p:nvPr>
        </p:nvSpPr>
        <p:spPr>
          <a:xfrm>
            <a:off x="311700" y="1340450"/>
            <a:ext cx="8520600" cy="16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tag defines a division or a section in an HTML document.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tag is used as a container for HTML elements 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By default, browsers always place a line break before and after the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&lt;div&gt;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element.</a:t>
            </a:r>
            <a:endParaRPr sz="2200"/>
          </a:p>
        </p:txBody>
      </p:sp>
      <p:sp>
        <p:nvSpPr>
          <p:cNvPr id="264" name="Google Shape;264;p40"/>
          <p:cNvSpPr txBox="1"/>
          <p:nvPr>
            <p:ph type="title"/>
          </p:nvPr>
        </p:nvSpPr>
        <p:spPr>
          <a:xfrm>
            <a:off x="230825" y="300245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Span </a:t>
            </a:r>
            <a:r>
              <a:rPr lang="en">
                <a:solidFill>
                  <a:srgbClr val="FFFF00"/>
                </a:solidFill>
              </a:rPr>
              <a:t>&lt;span&gt;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386350" y="3592475"/>
            <a:ext cx="8520600" cy="88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81"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" sz="1581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31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&lt;span&gt;</a:t>
            </a:r>
            <a:r>
              <a:rPr lang="en" sz="1581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81">
                <a:latin typeface="Verdana"/>
                <a:ea typeface="Verdana"/>
                <a:cs typeface="Verdana"/>
                <a:sym typeface="Verdana"/>
              </a:rPr>
              <a:t>tag is an inline container used to mark up a part of a text, or a part of a document.</a:t>
            </a:r>
            <a:endParaRPr sz="2631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271" name="Google Shape;271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List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77" name="Google Shape;277;p42"/>
          <p:cNvSpPr txBox="1"/>
          <p:nvPr>
            <p:ph idx="1" type="body"/>
          </p:nvPr>
        </p:nvSpPr>
        <p:spPr>
          <a:xfrm>
            <a:off x="311700" y="1295600"/>
            <a:ext cx="4810800" cy="30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HTML lists allow web developers to group a set of related items in lists.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Font typeface="Verdana"/>
              <a:buAutoNum type="arabicParenR"/>
            </a:pP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Ordered List :</a:t>
            </a:r>
            <a:r>
              <a:rPr lang="en" sz="2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An ordered list starts with 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&lt;ol&gt;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tag. Each list item starts with the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tag</a:t>
            </a:r>
            <a:endParaRPr sz="2200">
              <a:latin typeface="Verdana"/>
              <a:ea typeface="Verdana"/>
              <a:cs typeface="Verdana"/>
              <a:sym typeface="Verdana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Verdana"/>
              <a:buAutoNum type="arabicParenR"/>
            </a:pP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Unordered List :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An unordered list starts with 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&lt;ul&gt;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 tag. Each list item starts with 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&lt;li&gt;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tag.</a:t>
            </a:r>
            <a:endParaRPr sz="21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8" name="Google Shape;27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9398" y="372723"/>
            <a:ext cx="2679200" cy="2080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08100" y="2571748"/>
            <a:ext cx="2228850" cy="23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List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311700" y="1295600"/>
            <a:ext cx="4810800" cy="30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Verdana"/>
                <a:ea typeface="Verdana"/>
                <a:cs typeface="Verdana"/>
                <a:sym typeface="Verdana"/>
              </a:rPr>
              <a:t>3) 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Description</a:t>
            </a:r>
            <a:r>
              <a:rPr lang="en" sz="17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List :</a:t>
            </a:r>
            <a:r>
              <a:rPr lang="en" sz="22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A description list is a list of terms, with a description of each term.</a:t>
            </a:r>
            <a:endParaRPr sz="16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400"/>
              </a:spcAft>
              <a:buNone/>
            </a:pP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&lt;dl&gt;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 tag defines the description list, 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&lt;dt&gt;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tag defines the term (name), and the </a:t>
            </a:r>
            <a:r>
              <a:rPr lang="en" sz="17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&lt;dd&gt;</a:t>
            </a:r>
            <a:r>
              <a:rPr lang="en" sz="16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650">
                <a:latin typeface="Verdana"/>
                <a:ea typeface="Verdana"/>
                <a:cs typeface="Verdana"/>
                <a:sym typeface="Verdana"/>
              </a:rPr>
              <a:t>tag describes each term</a:t>
            </a:r>
            <a:endParaRPr sz="2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6" name="Google Shape;286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7500" y="548025"/>
            <a:ext cx="3243950" cy="240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87938" y="3065425"/>
            <a:ext cx="1743075" cy="169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4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List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293" name="Google Shape;293;p44"/>
          <p:cNvSpPr txBox="1"/>
          <p:nvPr>
            <p:ph idx="1" type="body"/>
          </p:nvPr>
        </p:nvSpPr>
        <p:spPr>
          <a:xfrm>
            <a:off x="311700" y="1295600"/>
            <a:ext cx="4810800" cy="306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6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reversed</a:t>
            </a:r>
            <a:r>
              <a:rPr lang="en" sz="15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attribute is a boolean attribute. Used with &lt;ol&gt; to reverse the </a:t>
            </a:r>
            <a:r>
              <a:rPr lang="en" sz="1550">
                <a:latin typeface="Verdana"/>
                <a:ea typeface="Verdana"/>
                <a:cs typeface="Verdana"/>
                <a:sym typeface="Verdana"/>
              </a:rPr>
              <a:t>arrangement</a:t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150"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he </a:t>
            </a:r>
            <a:r>
              <a:rPr lang="en" sz="1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start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 attribute specifies the start value of the first list item in an ordered list.</a:t>
            </a:r>
            <a:endParaRPr sz="17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94" name="Google Shape;29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1425" y="1235225"/>
            <a:ext cx="1219200" cy="98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3975" y="1025675"/>
            <a:ext cx="1838325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98400" y="3238625"/>
            <a:ext cx="1343025" cy="9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16675" y="3108400"/>
            <a:ext cx="231457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5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Tables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03" name="Google Shape;303;p45"/>
          <p:cNvSpPr txBox="1"/>
          <p:nvPr>
            <p:ph idx="1" type="body"/>
          </p:nvPr>
        </p:nvSpPr>
        <p:spPr>
          <a:xfrm>
            <a:off x="311700" y="1417800"/>
            <a:ext cx="5233500" cy="338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HTML tables allow web developers to arrange data into rows and columns.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&lt;table&gt; 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: table tag 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&lt;th&gt;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 : head tag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&lt;tr&gt; 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: row tag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&lt;td&gt; 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: column tag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&lt;caption&gt;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 : to add caption to table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&lt;colgroup&gt;</a:t>
            </a: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: to color group of columns</a:t>
            </a:r>
            <a:endParaRPr sz="16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4" name="Google Shape;30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4700" y="488512"/>
            <a:ext cx="2937175" cy="416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6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Table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10" name="Google Shape;310;p46"/>
          <p:cNvSpPr txBox="1"/>
          <p:nvPr>
            <p:ph idx="1" type="body"/>
          </p:nvPr>
        </p:nvSpPr>
        <p:spPr>
          <a:xfrm>
            <a:off x="311700" y="1417800"/>
            <a:ext cx="8520600" cy="315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Use the </a:t>
            </a:r>
            <a:r>
              <a:rPr lang="en" sz="1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colspan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 attribute on the </a:t>
            </a:r>
            <a:r>
              <a:rPr lang="en" sz="14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&lt;th&gt;</a:t>
            </a:r>
            <a:r>
              <a:rPr lang="en" sz="13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element so y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ou can have a header that spans over two or more columns to do this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Use </a:t>
            </a:r>
            <a:r>
              <a:rPr lang="en" sz="13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border </a:t>
            </a:r>
            <a:r>
              <a:rPr lang="en" sz="1350">
                <a:latin typeface="Verdana"/>
                <a:ea typeface="Verdana"/>
                <a:cs typeface="Verdana"/>
                <a:sym typeface="Verdana"/>
              </a:rPr>
              <a:t>att to style the table border</a:t>
            </a:r>
            <a:endParaRPr sz="13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1" name="Google Shape;31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5038" y="2037475"/>
            <a:ext cx="3457575" cy="2724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6163" y="2571738"/>
            <a:ext cx="2066925" cy="111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7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Table Attributes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18" name="Google Shape;318;p47"/>
          <p:cNvSpPr txBox="1"/>
          <p:nvPr>
            <p:ph idx="1" type="body"/>
          </p:nvPr>
        </p:nvSpPr>
        <p:spPr>
          <a:xfrm>
            <a:off x="311700" y="1324775"/>
            <a:ext cx="4154700" cy="172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To make a cell span over multiple rows, use 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rowspan</a:t>
            </a: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attribute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To align the table you can use </a:t>
            </a: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align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att with values center , right , left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9" name="Google Shape;31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6650" y="1417800"/>
            <a:ext cx="3030550" cy="347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5750" y="3045275"/>
            <a:ext cx="2019300" cy="11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8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Table colgroup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26" name="Google Shape;326;p48"/>
          <p:cNvSpPr txBox="1"/>
          <p:nvPr>
            <p:ph idx="1" type="body"/>
          </p:nvPr>
        </p:nvSpPr>
        <p:spPr>
          <a:xfrm>
            <a:off x="311700" y="1306175"/>
            <a:ext cx="5680200" cy="33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The</a:t>
            </a:r>
            <a:r>
              <a:rPr lang="en" sz="14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5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&lt;colgroup&gt;</a:t>
            </a:r>
            <a:r>
              <a:rPr lang="en" sz="140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element is used to style specific </a:t>
            </a: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columns</a:t>
            </a:r>
            <a:r>
              <a:rPr lang="en" sz="1400">
                <a:latin typeface="Verdana"/>
                <a:ea typeface="Verdana"/>
                <a:cs typeface="Verdana"/>
                <a:sym typeface="Verdana"/>
              </a:rPr>
              <a:t> in table</a:t>
            </a:r>
            <a:endParaRPr sz="170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&lt;colgroup&gt;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 element should be used as a container for the column specifications.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Each group is specified with a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&lt;col&gt;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 element.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span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 attribute specifies how many columns that get the style.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lang="en" sz="1500">
                <a:solidFill>
                  <a:srgbClr val="FFFF00"/>
                </a:solidFill>
                <a:latin typeface="Courier New"/>
                <a:ea typeface="Courier New"/>
                <a:cs typeface="Courier New"/>
                <a:sym typeface="Courier New"/>
              </a:rPr>
              <a:t>style</a:t>
            </a:r>
            <a:r>
              <a:rPr lang="en" sz="1450">
                <a:solidFill>
                  <a:srgbClr val="FFFF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 sz="1450">
                <a:latin typeface="Verdana"/>
                <a:ea typeface="Verdana"/>
                <a:cs typeface="Verdana"/>
                <a:sym typeface="Verdana"/>
              </a:rPr>
              <a:t>attribute specifies the style to give the columns.</a:t>
            </a:r>
            <a:endParaRPr sz="1450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4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7" name="Google Shape;32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588" y="372713"/>
            <a:ext cx="2676525" cy="15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450" y="2077700"/>
            <a:ext cx="3102150" cy="28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9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iFrame</a:t>
            </a:r>
            <a:endParaRPr>
              <a:solidFill>
                <a:srgbClr val="FFFF00"/>
              </a:solidFill>
            </a:endParaRPr>
          </a:p>
        </p:txBody>
      </p:sp>
      <p:sp>
        <p:nvSpPr>
          <p:cNvPr id="334" name="Google Shape;334;p49"/>
          <p:cNvSpPr txBox="1"/>
          <p:nvPr>
            <p:ph idx="1" type="body"/>
          </p:nvPr>
        </p:nvSpPr>
        <p:spPr>
          <a:xfrm>
            <a:off x="311700" y="1417800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latin typeface="Verdana"/>
                <a:ea typeface="Verdana"/>
                <a:cs typeface="Verdana"/>
                <a:sym typeface="Verdana"/>
              </a:rPr>
              <a:t>An HTML iframe is used to display a web page within a web page.</a:t>
            </a:r>
            <a:endParaRPr sz="2200"/>
          </a:p>
        </p:txBody>
      </p:sp>
      <p:pic>
        <p:nvPicPr>
          <p:cNvPr id="335" name="Google Shape;33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350" y="2224275"/>
            <a:ext cx="7098699" cy="195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Any Question ????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341" name="Google Shape;34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8500" y="1703350"/>
            <a:ext cx="2286000" cy="22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1"/>
          <p:cNvSpPr txBox="1"/>
          <p:nvPr>
            <p:ph type="title"/>
          </p:nvPr>
        </p:nvSpPr>
        <p:spPr>
          <a:xfrm>
            <a:off x="311700" y="372725"/>
            <a:ext cx="8520600" cy="6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00"/>
                </a:solidFill>
              </a:rPr>
              <a:t>Task</a:t>
            </a:r>
            <a:endParaRPr>
              <a:solidFill>
                <a:srgbClr val="FFFF00"/>
              </a:solidFill>
            </a:endParaRPr>
          </a:p>
        </p:txBody>
      </p:sp>
      <p:pic>
        <p:nvPicPr>
          <p:cNvPr id="347" name="Google Shape;347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075" y="793375"/>
            <a:ext cx="6314725" cy="4250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ue &amp; Gold">
  <a:themeElements>
    <a:clrScheme name="Blue &amp; Gold">
      <a:dk1>
        <a:srgbClr val="FFFFFF"/>
      </a:dk1>
      <a:lt1>
        <a:srgbClr val="01AFD1"/>
      </a:lt1>
      <a:dk2>
        <a:srgbClr val="1E2D31"/>
      </a:dk2>
      <a:lt2>
        <a:srgbClr val="BFC7CA"/>
      </a:lt2>
      <a:accent1>
        <a:srgbClr val="006F85"/>
      </a:accent1>
      <a:accent2>
        <a:srgbClr val="AF4345"/>
      </a:accent2>
      <a:accent3>
        <a:srgbClr val="47D06A"/>
      </a:accent3>
      <a:accent4>
        <a:srgbClr val="F58F8F"/>
      </a:accent4>
      <a:accent5>
        <a:srgbClr val="F6CD4C"/>
      </a:accent5>
      <a:accent6>
        <a:srgbClr val="F8E71C"/>
      </a:accent6>
      <a:hlink>
        <a:srgbClr val="F6CD4C"/>
      </a:hlink>
      <a:folHlink>
        <a:srgbClr val="F6CD4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