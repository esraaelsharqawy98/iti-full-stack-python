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Playfair Display"/>
      <p:regular r:id="rId32"/>
      <p:bold r:id="rId33"/>
      <p:italic r:id="rId34"/>
      <p:boldItalic r:id="rId35"/>
    </p:embeddedFont>
    <p:embeddedFont>
      <p:font typeface="Lat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fairDisplay-bold.fntdata"/><Relationship Id="rId10" Type="http://schemas.openxmlformats.org/officeDocument/2006/relationships/slide" Target="slides/slide5.xml"/><Relationship Id="rId32" Type="http://schemas.openxmlformats.org/officeDocument/2006/relationships/font" Target="fonts/PlayfairDisplay-regular.fntdata"/><Relationship Id="rId13" Type="http://schemas.openxmlformats.org/officeDocument/2006/relationships/slide" Target="slides/slide8.xml"/><Relationship Id="rId35" Type="http://schemas.openxmlformats.org/officeDocument/2006/relationships/font" Target="fonts/PlayfairDisplay-boldItalic.fntdata"/><Relationship Id="rId12" Type="http://schemas.openxmlformats.org/officeDocument/2006/relationships/slide" Target="slides/slide7.xml"/><Relationship Id="rId34" Type="http://schemas.openxmlformats.org/officeDocument/2006/relationships/font" Target="fonts/PlayfairDisplay-italic.fntdata"/><Relationship Id="rId15" Type="http://schemas.openxmlformats.org/officeDocument/2006/relationships/slide" Target="slides/slide10.xml"/><Relationship Id="rId37" Type="http://schemas.openxmlformats.org/officeDocument/2006/relationships/font" Target="fonts/Lato-bold.fntdata"/><Relationship Id="rId14" Type="http://schemas.openxmlformats.org/officeDocument/2006/relationships/slide" Target="slides/slide9.xml"/><Relationship Id="rId36" Type="http://schemas.openxmlformats.org/officeDocument/2006/relationships/font" Target="fonts/Lato-regular.fntdata"/><Relationship Id="rId17" Type="http://schemas.openxmlformats.org/officeDocument/2006/relationships/slide" Target="slides/slide12.xml"/><Relationship Id="rId39" Type="http://schemas.openxmlformats.org/officeDocument/2006/relationships/font" Target="fonts/Lato-boldItalic.fntdata"/><Relationship Id="rId16" Type="http://schemas.openxmlformats.org/officeDocument/2006/relationships/slide" Target="slides/slide11.xml"/><Relationship Id="rId38" Type="http://schemas.openxmlformats.org/officeDocument/2006/relationships/font" Target="fonts/Lato-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a97273c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a97273c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5aa50cafc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5aa50cafc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5aa50cafc9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5aa50cafc9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25aa50cafc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25aa50cafc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25aa50cafc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5aa50cafc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5aa50cafc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5aa50cafc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5aa50cafc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5aa50cafc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5a4468189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5a4468189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4b61fd6e75f7c01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4b61fd6e75f7c0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4b61fd6e75f7c015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4b61fd6e75f7c015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25af52b0e9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25af52b0e9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5af52b0e9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5af52b0e9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5af52b0e9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5af52b0e9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5af52b0e9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25af52b0e9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5af52b0e9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5af52b0e9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5af52b0e9e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5af52b0e9e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5af52b0e9e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5af52b0e9e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25af52b0e9e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25af52b0e9e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25af52b0e9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25af52b0e9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25af52b0e9e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25af52b0e9e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5af52b0e9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5af52b0e9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5af52b0e9e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5af52b0e9e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5af52b0e9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5af52b0e9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5af52b0e9e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5af52b0e9e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af52b0e9e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af52b0e9e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235351"/>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1921350"/>
            <a:ext cx="8124900" cy="1300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5045700"/>
            <a:ext cx="9144000" cy="978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154195"/>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17950"/>
            <a:ext cx="3999900" cy="3150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372725"/>
            <a:ext cx="8520600" cy="6450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417772"/>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1640350"/>
            <a:ext cx="2808000" cy="29289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0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084625"/>
            <a:ext cx="4045200" cy="1707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2845200"/>
            <a:ext cx="4045200" cy="1421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666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5076900"/>
            <a:ext cx="7970700" cy="66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353788"/>
            <a:ext cx="79707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2968388"/>
            <a:ext cx="79707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725"/>
            <a:ext cx="8520600" cy="645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417800"/>
            <a:ext cx="8520600" cy="3150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6.png"/><Relationship Id="rId7"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www.w3schools.com/bootstrap/default.asp"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3.png"/><Relationship Id="rId4" Type="http://schemas.openxmlformats.org/officeDocument/2006/relationships/image" Target="../media/image25.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21.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developer.mozilla.org/en-US/docs/Web/CSS/repeat"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cdnjs.cloudflare.com/ajax/libs/font-awesome/6.4.0/css/all.min.css%22"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3"/>
          <p:cNvSpPr txBox="1"/>
          <p:nvPr>
            <p:ph type="ctrTitle"/>
          </p:nvPr>
        </p:nvSpPr>
        <p:spPr>
          <a:xfrm>
            <a:off x="630600" y="136800"/>
            <a:ext cx="7893000" cy="18537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a:t>HTML + CSS Session 3</a:t>
            </a:r>
            <a:endParaRPr/>
          </a:p>
        </p:txBody>
      </p:sp>
      <p:sp>
        <p:nvSpPr>
          <p:cNvPr id="69" name="Google Shape;69;p13"/>
          <p:cNvSpPr txBox="1"/>
          <p:nvPr>
            <p:ph idx="1" type="subTitle"/>
          </p:nvPr>
        </p:nvSpPr>
        <p:spPr>
          <a:xfrm>
            <a:off x="630600" y="3228375"/>
            <a:ext cx="7893000" cy="1274100"/>
          </a:xfrm>
          <a:prstGeom prst="rect">
            <a:avLst/>
          </a:prstGeom>
        </p:spPr>
        <p:txBody>
          <a:bodyPr anchorCtr="0" anchor="b" bIns="91425" lIns="91425" spcFirstLastPara="1" rIns="91425" wrap="square" tIns="91425">
            <a:normAutofit/>
          </a:bodyPr>
          <a:lstStyle/>
          <a:p>
            <a:pPr indent="0" lvl="0" marL="0" rtl="0" algn="l">
              <a:spcBef>
                <a:spcPts val="1000"/>
              </a:spcBef>
              <a:spcAft>
                <a:spcPts val="0"/>
              </a:spcAft>
              <a:buNone/>
            </a:pPr>
            <a:r>
              <a:rPr lang="en"/>
              <a:t>Basant Mohamed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Pseudo Class</a:t>
            </a:r>
            <a:endParaRPr>
              <a:solidFill>
                <a:srgbClr val="FFFF00"/>
              </a:solidFill>
            </a:endParaRPr>
          </a:p>
        </p:txBody>
      </p:sp>
      <p:sp>
        <p:nvSpPr>
          <p:cNvPr id="75" name="Google Shape;75;p14"/>
          <p:cNvSpPr txBox="1"/>
          <p:nvPr>
            <p:ph idx="1" type="body"/>
          </p:nvPr>
        </p:nvSpPr>
        <p:spPr>
          <a:xfrm>
            <a:off x="311700" y="1405175"/>
            <a:ext cx="8520600" cy="3161700"/>
          </a:xfrm>
          <a:prstGeom prst="rect">
            <a:avLst/>
          </a:prstGeom>
        </p:spPr>
        <p:txBody>
          <a:bodyPr anchorCtr="0" anchor="t" bIns="91425" lIns="91425" spcFirstLastPara="1" rIns="91425" wrap="square" tIns="91425">
            <a:normAutofit lnSpcReduction="10000"/>
          </a:bodyPr>
          <a:lstStyle/>
          <a:p>
            <a:pPr indent="0" lvl="0" marL="0" rtl="0" algn="l">
              <a:spcBef>
                <a:spcPts val="1400"/>
              </a:spcBef>
              <a:spcAft>
                <a:spcPts val="0"/>
              </a:spcAft>
              <a:buNone/>
            </a:pPr>
            <a:r>
              <a:rPr lang="en" sz="2050">
                <a:latin typeface="Verdana"/>
                <a:ea typeface="Verdana"/>
                <a:cs typeface="Verdana"/>
                <a:sym typeface="Verdana"/>
              </a:rPr>
              <a:t>A pseudo-class is used to define a special state of an element.</a:t>
            </a:r>
            <a:endParaRPr sz="2050">
              <a:latin typeface="Verdana"/>
              <a:ea typeface="Verdana"/>
              <a:cs typeface="Verdana"/>
              <a:sym typeface="Verdana"/>
            </a:endParaRPr>
          </a:p>
          <a:p>
            <a:pPr indent="0" lvl="0" marL="0" rtl="0" algn="l">
              <a:spcBef>
                <a:spcPts val="1400"/>
              </a:spcBef>
              <a:spcAft>
                <a:spcPts val="0"/>
              </a:spcAft>
              <a:buNone/>
            </a:pPr>
            <a:r>
              <a:rPr lang="en" sz="2050">
                <a:latin typeface="Verdana"/>
                <a:ea typeface="Verdana"/>
                <a:cs typeface="Verdana"/>
                <a:sym typeface="Verdana"/>
              </a:rPr>
              <a:t>For example, it can be used to:</a:t>
            </a:r>
            <a:endParaRPr sz="2050">
              <a:latin typeface="Verdana"/>
              <a:ea typeface="Verdana"/>
              <a:cs typeface="Verdana"/>
              <a:sym typeface="Verdana"/>
            </a:endParaRPr>
          </a:p>
          <a:p>
            <a:pPr indent="-358775" lvl="0" marL="457200" rtl="0" algn="l">
              <a:spcBef>
                <a:spcPts val="1400"/>
              </a:spcBef>
              <a:spcAft>
                <a:spcPts val="0"/>
              </a:spcAft>
              <a:buClr>
                <a:schemeClr val="dk1"/>
              </a:buClr>
              <a:buSzPts val="2050"/>
              <a:buFont typeface="Verdana"/>
              <a:buChar char="●"/>
            </a:pPr>
            <a:r>
              <a:rPr lang="en" sz="2050">
                <a:latin typeface="Verdana"/>
                <a:ea typeface="Verdana"/>
                <a:cs typeface="Verdana"/>
                <a:sym typeface="Verdana"/>
              </a:rPr>
              <a:t>Style an element when a user mouses over it</a:t>
            </a:r>
            <a:endParaRPr sz="2050">
              <a:latin typeface="Verdana"/>
              <a:ea typeface="Verdana"/>
              <a:cs typeface="Verdana"/>
              <a:sym typeface="Verdana"/>
            </a:endParaRPr>
          </a:p>
          <a:p>
            <a:pPr indent="-358775" lvl="0" marL="457200" rtl="0" algn="l">
              <a:spcBef>
                <a:spcPts val="0"/>
              </a:spcBef>
              <a:spcAft>
                <a:spcPts val="0"/>
              </a:spcAft>
              <a:buClr>
                <a:schemeClr val="dk1"/>
              </a:buClr>
              <a:buSzPts val="2050"/>
              <a:buFont typeface="Verdana"/>
              <a:buChar char="●"/>
            </a:pPr>
            <a:r>
              <a:rPr lang="en" sz="2050">
                <a:latin typeface="Verdana"/>
                <a:ea typeface="Verdana"/>
                <a:cs typeface="Verdana"/>
                <a:sym typeface="Verdana"/>
              </a:rPr>
              <a:t>Style visited and unvisited links differently</a:t>
            </a:r>
            <a:endParaRPr sz="2050">
              <a:latin typeface="Verdana"/>
              <a:ea typeface="Verdana"/>
              <a:cs typeface="Verdana"/>
              <a:sym typeface="Verdana"/>
            </a:endParaRPr>
          </a:p>
          <a:p>
            <a:pPr indent="-358775" lvl="0" marL="457200" rtl="0" algn="l">
              <a:spcBef>
                <a:spcPts val="0"/>
              </a:spcBef>
              <a:spcAft>
                <a:spcPts val="0"/>
              </a:spcAft>
              <a:buClr>
                <a:schemeClr val="dk1"/>
              </a:buClr>
              <a:buSzPts val="2050"/>
              <a:buFont typeface="Verdana"/>
              <a:buChar char="●"/>
            </a:pPr>
            <a:r>
              <a:rPr lang="en" sz="2050">
                <a:latin typeface="Verdana"/>
                <a:ea typeface="Verdana"/>
                <a:cs typeface="Verdana"/>
                <a:sym typeface="Verdana"/>
              </a:rPr>
              <a:t>Style an element when it gets focus</a:t>
            </a:r>
            <a:endParaRPr sz="2050">
              <a:latin typeface="Verdana"/>
              <a:ea typeface="Verdana"/>
              <a:cs typeface="Verdana"/>
              <a:sym typeface="Verdana"/>
            </a:endParaRPr>
          </a:p>
          <a:p>
            <a:pPr indent="0" lvl="0" marL="0" rtl="0" algn="l">
              <a:spcBef>
                <a:spcPts val="1100"/>
              </a:spcBef>
              <a:spcAft>
                <a:spcPts val="0"/>
              </a:spcAft>
              <a:buNone/>
            </a:pPr>
            <a:r>
              <a:t/>
            </a:r>
            <a:endParaRPr sz="2050">
              <a:latin typeface="Verdana"/>
              <a:ea typeface="Verdana"/>
              <a:cs typeface="Verdana"/>
              <a:sym typeface="Verdana"/>
            </a:endParaRPr>
          </a:p>
          <a:p>
            <a:pPr indent="0" lvl="0" marL="0" rtl="0" algn="l">
              <a:spcBef>
                <a:spcPts val="1100"/>
              </a:spcBef>
              <a:spcAft>
                <a:spcPts val="1200"/>
              </a:spcAft>
              <a:buNone/>
            </a:pPr>
            <a:r>
              <a:rPr lang="en">
                <a:solidFill>
                  <a:srgbClr val="FFFF00"/>
                </a:solidFill>
              </a:rPr>
              <a:t>Ex: </a:t>
            </a:r>
            <a:r>
              <a:rPr lang="en">
                <a:solidFill>
                  <a:srgbClr val="FFFF00"/>
                </a:solidFill>
              </a:rPr>
              <a:t>a: hovar , a:visited , a:link , a:active</a:t>
            </a:r>
            <a:endParaRPr sz="2050">
              <a:solidFill>
                <a:srgbClr val="FFFF00"/>
              </a:solidFill>
              <a:latin typeface="Verdana"/>
              <a:ea typeface="Verdana"/>
              <a:cs typeface="Verdana"/>
              <a:sym typeface="Verdana"/>
            </a:endParaRPr>
          </a:p>
        </p:txBody>
      </p:sp>
      <p:pic>
        <p:nvPicPr>
          <p:cNvPr id="76" name="Google Shape;76;p14"/>
          <p:cNvPicPr preferRelativeResize="0"/>
          <p:nvPr/>
        </p:nvPicPr>
        <p:blipFill>
          <a:blip r:embed="rId3">
            <a:alphaModFix/>
          </a:blip>
          <a:stretch>
            <a:fillRect/>
          </a:stretch>
        </p:blipFill>
        <p:spPr>
          <a:xfrm>
            <a:off x="6077738" y="3478850"/>
            <a:ext cx="2447925" cy="8858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pseudo class with HTML class</a:t>
            </a:r>
            <a:endParaRPr>
              <a:solidFill>
                <a:srgbClr val="FFFF00"/>
              </a:solidFill>
            </a:endParaRPr>
          </a:p>
        </p:txBody>
      </p:sp>
      <p:sp>
        <p:nvSpPr>
          <p:cNvPr id="82" name="Google Shape;82;p15"/>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50">
                <a:latin typeface="Verdana"/>
                <a:ea typeface="Verdana"/>
                <a:cs typeface="Verdana"/>
                <a:sym typeface="Verdana"/>
              </a:rPr>
              <a:t>Pseudo-classes can be combined with HTML classes</a:t>
            </a:r>
            <a:endParaRPr sz="2300"/>
          </a:p>
          <a:p>
            <a:pPr indent="0" lvl="0" marL="0" rtl="0" algn="l">
              <a:spcBef>
                <a:spcPts val="1200"/>
              </a:spcBef>
              <a:spcAft>
                <a:spcPts val="1200"/>
              </a:spcAft>
              <a:buNone/>
            </a:pPr>
            <a:r>
              <a:t/>
            </a:r>
            <a:endParaRPr/>
          </a:p>
        </p:txBody>
      </p:sp>
      <p:pic>
        <p:nvPicPr>
          <p:cNvPr id="83" name="Google Shape;83;p15"/>
          <p:cNvPicPr preferRelativeResize="0"/>
          <p:nvPr/>
        </p:nvPicPr>
        <p:blipFill>
          <a:blip r:embed="rId3">
            <a:alphaModFix/>
          </a:blip>
          <a:stretch>
            <a:fillRect/>
          </a:stretch>
        </p:blipFill>
        <p:spPr>
          <a:xfrm>
            <a:off x="1060388" y="2253950"/>
            <a:ext cx="3838575" cy="762000"/>
          </a:xfrm>
          <a:prstGeom prst="rect">
            <a:avLst/>
          </a:prstGeom>
          <a:noFill/>
          <a:ln>
            <a:noFill/>
          </a:ln>
        </p:spPr>
      </p:pic>
      <p:pic>
        <p:nvPicPr>
          <p:cNvPr id="84" name="Google Shape;84;p15"/>
          <p:cNvPicPr preferRelativeResize="0"/>
          <p:nvPr/>
        </p:nvPicPr>
        <p:blipFill>
          <a:blip r:embed="rId4">
            <a:alphaModFix/>
          </a:blip>
          <a:stretch>
            <a:fillRect/>
          </a:stretch>
        </p:blipFill>
        <p:spPr>
          <a:xfrm>
            <a:off x="4079313" y="3342213"/>
            <a:ext cx="4752975" cy="1114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First child pseudo class</a:t>
            </a:r>
            <a:endParaRPr>
              <a:solidFill>
                <a:srgbClr val="FFFF00"/>
              </a:solidFill>
            </a:endParaRPr>
          </a:p>
        </p:txBody>
      </p:sp>
      <p:sp>
        <p:nvSpPr>
          <p:cNvPr id="90" name="Google Shape;90;p16"/>
          <p:cNvSpPr txBox="1"/>
          <p:nvPr>
            <p:ph idx="1" type="body"/>
          </p:nvPr>
        </p:nvSpPr>
        <p:spPr>
          <a:xfrm>
            <a:off x="311700" y="1417800"/>
            <a:ext cx="8520600" cy="3150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650">
                <a:latin typeface="Verdana"/>
                <a:ea typeface="Verdana"/>
                <a:cs typeface="Verdana"/>
                <a:sym typeface="Verdana"/>
              </a:rPr>
              <a:t>The </a:t>
            </a:r>
            <a:r>
              <a:rPr lang="en" sz="1700">
                <a:solidFill>
                  <a:srgbClr val="FFFF00"/>
                </a:solidFill>
                <a:latin typeface="Courier New"/>
                <a:ea typeface="Courier New"/>
                <a:cs typeface="Courier New"/>
                <a:sym typeface="Courier New"/>
              </a:rPr>
              <a:t>:first-child</a:t>
            </a:r>
            <a:r>
              <a:rPr lang="en" sz="1650">
                <a:solidFill>
                  <a:srgbClr val="FFFF00"/>
                </a:solidFill>
                <a:latin typeface="Verdana"/>
                <a:ea typeface="Verdana"/>
                <a:cs typeface="Verdana"/>
                <a:sym typeface="Verdana"/>
              </a:rPr>
              <a:t> </a:t>
            </a:r>
            <a:r>
              <a:rPr lang="en" sz="1650">
                <a:latin typeface="Verdana"/>
                <a:ea typeface="Verdana"/>
                <a:cs typeface="Verdana"/>
                <a:sym typeface="Verdana"/>
              </a:rPr>
              <a:t>pseudo-class matches a specified element that is the first child of another element.</a:t>
            </a:r>
            <a:endParaRPr sz="2300"/>
          </a:p>
        </p:txBody>
      </p:sp>
      <p:pic>
        <p:nvPicPr>
          <p:cNvPr id="91" name="Google Shape;91;p16"/>
          <p:cNvPicPr preferRelativeResize="0"/>
          <p:nvPr/>
        </p:nvPicPr>
        <p:blipFill>
          <a:blip r:embed="rId3">
            <a:alphaModFix/>
          </a:blip>
          <a:stretch>
            <a:fillRect/>
          </a:stretch>
        </p:blipFill>
        <p:spPr>
          <a:xfrm>
            <a:off x="311700" y="2345550"/>
            <a:ext cx="3467100" cy="1295400"/>
          </a:xfrm>
          <a:prstGeom prst="rect">
            <a:avLst/>
          </a:prstGeom>
          <a:noFill/>
          <a:ln>
            <a:noFill/>
          </a:ln>
        </p:spPr>
      </p:pic>
      <p:pic>
        <p:nvPicPr>
          <p:cNvPr id="92" name="Google Shape;92;p16"/>
          <p:cNvPicPr preferRelativeResize="0"/>
          <p:nvPr/>
        </p:nvPicPr>
        <p:blipFill>
          <a:blip r:embed="rId4">
            <a:alphaModFix/>
          </a:blip>
          <a:stretch>
            <a:fillRect/>
          </a:stretch>
        </p:blipFill>
        <p:spPr>
          <a:xfrm>
            <a:off x="4957900" y="1843013"/>
            <a:ext cx="3981450" cy="30765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First child pseudo class</a:t>
            </a:r>
            <a:endParaRPr>
              <a:solidFill>
                <a:srgbClr val="FFFF00"/>
              </a:solidFill>
            </a:endParaRPr>
          </a:p>
        </p:txBody>
      </p:sp>
      <p:pic>
        <p:nvPicPr>
          <p:cNvPr id="98" name="Google Shape;98;p17"/>
          <p:cNvPicPr preferRelativeResize="0"/>
          <p:nvPr/>
        </p:nvPicPr>
        <p:blipFill>
          <a:blip r:embed="rId3">
            <a:alphaModFix/>
          </a:blip>
          <a:stretch>
            <a:fillRect/>
          </a:stretch>
        </p:blipFill>
        <p:spPr>
          <a:xfrm>
            <a:off x="403225" y="2385600"/>
            <a:ext cx="3181350" cy="1181100"/>
          </a:xfrm>
          <a:prstGeom prst="rect">
            <a:avLst/>
          </a:prstGeom>
          <a:noFill/>
          <a:ln>
            <a:noFill/>
          </a:ln>
        </p:spPr>
      </p:pic>
      <p:pic>
        <p:nvPicPr>
          <p:cNvPr id="99" name="Google Shape;99;p17"/>
          <p:cNvPicPr preferRelativeResize="0"/>
          <p:nvPr/>
        </p:nvPicPr>
        <p:blipFill>
          <a:blip r:embed="rId4">
            <a:alphaModFix/>
          </a:blip>
          <a:stretch>
            <a:fillRect/>
          </a:stretch>
        </p:blipFill>
        <p:spPr>
          <a:xfrm>
            <a:off x="3958100" y="1187700"/>
            <a:ext cx="4985775" cy="2971800"/>
          </a:xfrm>
          <a:prstGeom prst="rect">
            <a:avLst/>
          </a:prstGeom>
          <a:noFill/>
          <a:ln>
            <a:noFill/>
          </a:ln>
        </p:spPr>
      </p:pic>
      <p:sp>
        <p:nvSpPr>
          <p:cNvPr id="100" name="Google Shape;100;p17"/>
          <p:cNvSpPr txBox="1"/>
          <p:nvPr/>
        </p:nvSpPr>
        <p:spPr>
          <a:xfrm>
            <a:off x="533300" y="4200725"/>
            <a:ext cx="7809900" cy="7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900">
                <a:solidFill>
                  <a:srgbClr val="FFFF00"/>
                </a:solidFill>
                <a:latin typeface="Lato"/>
                <a:ea typeface="Lato"/>
                <a:cs typeface="Lato"/>
                <a:sym typeface="Lato"/>
              </a:rPr>
              <a:t>More &gt;&gt; https://developer.mozilla.org/en-US/docs/Web/CSS/Pseudo-classes</a:t>
            </a:r>
            <a:endParaRPr sz="1900">
              <a:solidFill>
                <a:srgbClr val="FFFF00"/>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Pseudo elements</a:t>
            </a:r>
            <a:endParaRPr>
              <a:solidFill>
                <a:srgbClr val="FFFF00"/>
              </a:solidFill>
            </a:endParaRPr>
          </a:p>
        </p:txBody>
      </p:sp>
      <p:sp>
        <p:nvSpPr>
          <p:cNvPr id="106" name="Google Shape;106;p18"/>
          <p:cNvSpPr txBox="1"/>
          <p:nvPr>
            <p:ph idx="1" type="body"/>
          </p:nvPr>
        </p:nvSpPr>
        <p:spPr>
          <a:xfrm>
            <a:off x="311700" y="1405175"/>
            <a:ext cx="8520600" cy="31617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lang="en" sz="1650">
                <a:latin typeface="Verdana"/>
                <a:ea typeface="Verdana"/>
                <a:cs typeface="Verdana"/>
                <a:sym typeface="Verdana"/>
              </a:rPr>
              <a:t>A CSS pseudo-element is used to style specified parts of an element.</a:t>
            </a:r>
            <a:endParaRPr sz="1650">
              <a:latin typeface="Verdana"/>
              <a:ea typeface="Verdana"/>
              <a:cs typeface="Verdana"/>
              <a:sym typeface="Verdana"/>
            </a:endParaRPr>
          </a:p>
          <a:p>
            <a:pPr indent="0" lvl="0" marL="0" rtl="0" algn="l">
              <a:spcBef>
                <a:spcPts val="1400"/>
              </a:spcBef>
              <a:spcAft>
                <a:spcPts val="0"/>
              </a:spcAft>
              <a:buNone/>
            </a:pPr>
            <a:r>
              <a:rPr lang="en" sz="1650">
                <a:latin typeface="Verdana"/>
                <a:ea typeface="Verdana"/>
                <a:cs typeface="Verdana"/>
                <a:sym typeface="Verdana"/>
              </a:rPr>
              <a:t>For example, it can be used to:</a:t>
            </a:r>
            <a:endParaRPr sz="1650">
              <a:latin typeface="Verdana"/>
              <a:ea typeface="Verdana"/>
              <a:cs typeface="Verdana"/>
              <a:sym typeface="Verdana"/>
            </a:endParaRPr>
          </a:p>
          <a:p>
            <a:pPr indent="-333375" lvl="0" marL="457200" rtl="0" algn="l">
              <a:spcBef>
                <a:spcPts val="1400"/>
              </a:spcBef>
              <a:spcAft>
                <a:spcPts val="0"/>
              </a:spcAft>
              <a:buClr>
                <a:schemeClr val="dk1"/>
              </a:buClr>
              <a:buSzPts val="1650"/>
              <a:buFont typeface="Verdana"/>
              <a:buChar char="●"/>
            </a:pPr>
            <a:r>
              <a:rPr lang="en" sz="1650">
                <a:latin typeface="Verdana"/>
                <a:ea typeface="Verdana"/>
                <a:cs typeface="Verdana"/>
                <a:sym typeface="Verdana"/>
              </a:rPr>
              <a:t>Style the first letter, or line, of an element</a:t>
            </a:r>
            <a:endParaRPr sz="1650">
              <a:latin typeface="Verdana"/>
              <a:ea typeface="Verdana"/>
              <a:cs typeface="Verdana"/>
              <a:sym typeface="Verdana"/>
            </a:endParaRPr>
          </a:p>
          <a:p>
            <a:pPr indent="-333375" lvl="0" marL="457200" rtl="0" algn="l">
              <a:spcBef>
                <a:spcPts val="0"/>
              </a:spcBef>
              <a:spcAft>
                <a:spcPts val="0"/>
              </a:spcAft>
              <a:buClr>
                <a:schemeClr val="dk1"/>
              </a:buClr>
              <a:buSzPts val="1650"/>
              <a:buFont typeface="Verdana"/>
              <a:buChar char="●"/>
            </a:pPr>
            <a:r>
              <a:rPr lang="en" sz="1650">
                <a:latin typeface="Verdana"/>
                <a:ea typeface="Verdana"/>
                <a:cs typeface="Verdana"/>
                <a:sym typeface="Verdana"/>
              </a:rPr>
              <a:t>Insert content before, or after, the content of an element</a:t>
            </a:r>
            <a:endParaRPr sz="1650">
              <a:latin typeface="Verdana"/>
              <a:ea typeface="Verdana"/>
              <a:cs typeface="Verdana"/>
              <a:sym typeface="Verdana"/>
            </a:endParaRPr>
          </a:p>
          <a:p>
            <a:pPr indent="0" lvl="0" marL="457200" rtl="0" algn="l">
              <a:spcBef>
                <a:spcPts val="1100"/>
              </a:spcBef>
              <a:spcAft>
                <a:spcPts val="0"/>
              </a:spcAft>
              <a:buNone/>
            </a:pPr>
            <a:r>
              <a:t/>
            </a:r>
            <a:endParaRPr sz="2050">
              <a:latin typeface="Verdana"/>
              <a:ea typeface="Verdana"/>
              <a:cs typeface="Verdana"/>
              <a:sym typeface="Verdana"/>
            </a:endParaRPr>
          </a:p>
          <a:p>
            <a:pPr indent="0" lvl="0" marL="0" rtl="0" algn="l">
              <a:spcBef>
                <a:spcPts val="1100"/>
              </a:spcBef>
              <a:spcAft>
                <a:spcPts val="0"/>
              </a:spcAft>
              <a:buNone/>
            </a:pPr>
            <a:r>
              <a:t/>
            </a:r>
            <a:endParaRPr sz="2050">
              <a:latin typeface="Verdana"/>
              <a:ea typeface="Verdana"/>
              <a:cs typeface="Verdana"/>
              <a:sym typeface="Verdana"/>
            </a:endParaRPr>
          </a:p>
          <a:p>
            <a:pPr indent="0" lvl="0" marL="0" rtl="0" algn="l">
              <a:spcBef>
                <a:spcPts val="1100"/>
              </a:spcBef>
              <a:spcAft>
                <a:spcPts val="1200"/>
              </a:spcAft>
              <a:buNone/>
            </a:pPr>
            <a:r>
              <a:t/>
            </a:r>
            <a:endParaRPr sz="2050">
              <a:solidFill>
                <a:srgbClr val="FFFF00"/>
              </a:solidFill>
              <a:latin typeface="Verdana"/>
              <a:ea typeface="Verdana"/>
              <a:cs typeface="Verdana"/>
              <a:sym typeface="Verdana"/>
            </a:endParaRPr>
          </a:p>
        </p:txBody>
      </p:sp>
      <p:pic>
        <p:nvPicPr>
          <p:cNvPr id="107" name="Google Shape;107;p18"/>
          <p:cNvPicPr preferRelativeResize="0"/>
          <p:nvPr/>
        </p:nvPicPr>
        <p:blipFill>
          <a:blip r:embed="rId3">
            <a:alphaModFix/>
          </a:blip>
          <a:stretch>
            <a:fillRect/>
          </a:stretch>
        </p:blipFill>
        <p:spPr>
          <a:xfrm>
            <a:off x="5392750" y="3343325"/>
            <a:ext cx="2857500" cy="10096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9"/>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::first-line pseudo</a:t>
            </a:r>
            <a:r>
              <a:rPr lang="en">
                <a:solidFill>
                  <a:srgbClr val="FFFF00"/>
                </a:solidFill>
              </a:rPr>
              <a:t> elements</a:t>
            </a:r>
            <a:endParaRPr>
              <a:solidFill>
                <a:srgbClr val="FFFF00"/>
              </a:solidFill>
            </a:endParaRPr>
          </a:p>
        </p:txBody>
      </p:sp>
      <p:sp>
        <p:nvSpPr>
          <p:cNvPr id="113" name="Google Shape;113;p19"/>
          <p:cNvSpPr txBox="1"/>
          <p:nvPr>
            <p:ph idx="1" type="body"/>
          </p:nvPr>
        </p:nvSpPr>
        <p:spPr>
          <a:xfrm>
            <a:off x="311700" y="1405175"/>
            <a:ext cx="4884900" cy="1076700"/>
          </a:xfrm>
          <a:prstGeom prst="rect">
            <a:avLst/>
          </a:prstGeom>
        </p:spPr>
        <p:txBody>
          <a:bodyPr anchorCtr="0" anchor="t" bIns="91425" lIns="91425" spcFirstLastPara="1" rIns="91425" wrap="square" tIns="91425">
            <a:normAutofit/>
          </a:bodyPr>
          <a:lstStyle/>
          <a:p>
            <a:pPr indent="0" lvl="0" marL="0" rtl="0" algn="l">
              <a:spcBef>
                <a:spcPts val="1100"/>
              </a:spcBef>
              <a:spcAft>
                <a:spcPts val="1100"/>
              </a:spcAft>
              <a:buNone/>
            </a:pPr>
            <a:r>
              <a:rPr lang="en" sz="1550">
                <a:latin typeface="Verdana"/>
                <a:ea typeface="Verdana"/>
                <a:cs typeface="Verdana"/>
                <a:sym typeface="Verdana"/>
              </a:rPr>
              <a:t>The </a:t>
            </a:r>
            <a:r>
              <a:rPr lang="en" sz="1600">
                <a:solidFill>
                  <a:srgbClr val="FFFF00"/>
                </a:solidFill>
                <a:latin typeface="Courier New"/>
                <a:ea typeface="Courier New"/>
                <a:cs typeface="Courier New"/>
                <a:sym typeface="Courier New"/>
              </a:rPr>
              <a:t>::first-line</a:t>
            </a:r>
            <a:r>
              <a:rPr lang="en" sz="1550">
                <a:latin typeface="Verdana"/>
                <a:ea typeface="Verdana"/>
                <a:cs typeface="Verdana"/>
                <a:sym typeface="Verdana"/>
              </a:rPr>
              <a:t> pseudo-element is used to add a special style to the first line of a text.</a:t>
            </a:r>
            <a:endParaRPr sz="2050">
              <a:solidFill>
                <a:srgbClr val="FFFF00"/>
              </a:solidFill>
              <a:latin typeface="Verdana"/>
              <a:ea typeface="Verdana"/>
              <a:cs typeface="Verdana"/>
              <a:sym typeface="Verdana"/>
            </a:endParaRPr>
          </a:p>
        </p:txBody>
      </p:sp>
      <p:pic>
        <p:nvPicPr>
          <p:cNvPr id="114" name="Google Shape;114;p19"/>
          <p:cNvPicPr preferRelativeResize="0"/>
          <p:nvPr/>
        </p:nvPicPr>
        <p:blipFill>
          <a:blip r:embed="rId3">
            <a:alphaModFix/>
          </a:blip>
          <a:stretch>
            <a:fillRect/>
          </a:stretch>
        </p:blipFill>
        <p:spPr>
          <a:xfrm>
            <a:off x="5711563" y="465275"/>
            <a:ext cx="3209925" cy="1162050"/>
          </a:xfrm>
          <a:prstGeom prst="rect">
            <a:avLst/>
          </a:prstGeom>
          <a:noFill/>
          <a:ln>
            <a:noFill/>
          </a:ln>
        </p:spPr>
      </p:pic>
      <p:sp>
        <p:nvSpPr>
          <p:cNvPr id="115" name="Google Shape;115;p19"/>
          <p:cNvSpPr txBox="1"/>
          <p:nvPr>
            <p:ph type="title"/>
          </p:nvPr>
        </p:nvSpPr>
        <p:spPr>
          <a:xfrm>
            <a:off x="400900" y="248187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::first-letter pseudo elements</a:t>
            </a:r>
            <a:endParaRPr>
              <a:solidFill>
                <a:srgbClr val="FFFF00"/>
              </a:solidFill>
            </a:endParaRPr>
          </a:p>
        </p:txBody>
      </p:sp>
      <p:sp>
        <p:nvSpPr>
          <p:cNvPr id="116" name="Google Shape;116;p19"/>
          <p:cNvSpPr txBox="1"/>
          <p:nvPr>
            <p:ph idx="1" type="body"/>
          </p:nvPr>
        </p:nvSpPr>
        <p:spPr>
          <a:xfrm>
            <a:off x="311700" y="3197900"/>
            <a:ext cx="4986000" cy="849300"/>
          </a:xfrm>
          <a:prstGeom prst="rect">
            <a:avLst/>
          </a:prstGeom>
        </p:spPr>
        <p:txBody>
          <a:bodyPr anchorCtr="0" anchor="t" bIns="91425" lIns="91425" spcFirstLastPara="1" rIns="91425" wrap="square" tIns="91425">
            <a:normAutofit/>
          </a:bodyPr>
          <a:lstStyle/>
          <a:p>
            <a:pPr indent="0" lvl="0" marL="0" rtl="0" algn="l">
              <a:spcBef>
                <a:spcPts val="1100"/>
              </a:spcBef>
              <a:spcAft>
                <a:spcPts val="1100"/>
              </a:spcAft>
              <a:buNone/>
            </a:pPr>
            <a:r>
              <a:rPr lang="en" sz="1550">
                <a:latin typeface="Verdana"/>
                <a:ea typeface="Verdana"/>
                <a:cs typeface="Verdana"/>
                <a:sym typeface="Verdana"/>
              </a:rPr>
              <a:t>The </a:t>
            </a:r>
            <a:r>
              <a:rPr lang="en" sz="1600">
                <a:solidFill>
                  <a:srgbClr val="FFFF00"/>
                </a:solidFill>
                <a:latin typeface="Courier New"/>
                <a:ea typeface="Courier New"/>
                <a:cs typeface="Courier New"/>
                <a:sym typeface="Courier New"/>
              </a:rPr>
              <a:t>::first-letter</a:t>
            </a:r>
            <a:r>
              <a:rPr lang="en" sz="1550">
                <a:latin typeface="Verdana"/>
                <a:ea typeface="Verdana"/>
                <a:cs typeface="Verdana"/>
                <a:sym typeface="Verdana"/>
              </a:rPr>
              <a:t> pseudo-element is used to add a special style to the first letter of a text</a:t>
            </a:r>
            <a:endParaRPr sz="2450">
              <a:latin typeface="Verdana"/>
              <a:ea typeface="Verdana"/>
              <a:cs typeface="Verdana"/>
              <a:sym typeface="Verdana"/>
            </a:endParaRPr>
          </a:p>
        </p:txBody>
      </p:sp>
      <p:pic>
        <p:nvPicPr>
          <p:cNvPr id="117" name="Google Shape;117;p19"/>
          <p:cNvPicPr preferRelativeResize="0"/>
          <p:nvPr/>
        </p:nvPicPr>
        <p:blipFill>
          <a:blip r:embed="rId4">
            <a:alphaModFix/>
          </a:blip>
          <a:stretch>
            <a:fillRect/>
          </a:stretch>
        </p:blipFill>
        <p:spPr>
          <a:xfrm>
            <a:off x="6117675" y="2199538"/>
            <a:ext cx="2714625" cy="1209675"/>
          </a:xfrm>
          <a:prstGeom prst="rect">
            <a:avLst/>
          </a:prstGeom>
          <a:noFill/>
          <a:ln>
            <a:noFill/>
          </a:ln>
        </p:spPr>
      </p:pic>
      <p:pic>
        <p:nvPicPr>
          <p:cNvPr id="118" name="Google Shape;118;p19"/>
          <p:cNvPicPr preferRelativeResize="0"/>
          <p:nvPr/>
        </p:nvPicPr>
        <p:blipFill>
          <a:blip r:embed="rId5">
            <a:alphaModFix/>
          </a:blip>
          <a:stretch>
            <a:fillRect/>
          </a:stretch>
        </p:blipFill>
        <p:spPr>
          <a:xfrm>
            <a:off x="5196600" y="3657613"/>
            <a:ext cx="3619500" cy="1343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0"/>
          <p:cNvSpPr txBox="1"/>
          <p:nvPr>
            <p:ph type="title"/>
          </p:nvPr>
        </p:nvSpPr>
        <p:spPr>
          <a:xfrm>
            <a:off x="311700" y="372725"/>
            <a:ext cx="46449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::marker pseudo elements</a:t>
            </a:r>
            <a:endParaRPr>
              <a:solidFill>
                <a:srgbClr val="FFFF00"/>
              </a:solidFill>
            </a:endParaRPr>
          </a:p>
        </p:txBody>
      </p:sp>
      <p:sp>
        <p:nvSpPr>
          <p:cNvPr id="124" name="Google Shape;124;p20"/>
          <p:cNvSpPr txBox="1"/>
          <p:nvPr>
            <p:ph idx="1" type="body"/>
          </p:nvPr>
        </p:nvSpPr>
        <p:spPr>
          <a:xfrm>
            <a:off x="360300" y="4360550"/>
            <a:ext cx="8423400" cy="645000"/>
          </a:xfrm>
          <a:prstGeom prst="rect">
            <a:avLst/>
          </a:prstGeom>
        </p:spPr>
        <p:txBody>
          <a:bodyPr anchorCtr="0" anchor="t" bIns="91425" lIns="91425" spcFirstLastPara="1" rIns="91425" wrap="square" tIns="91425">
            <a:normAutofit/>
          </a:bodyPr>
          <a:lstStyle/>
          <a:p>
            <a:pPr indent="0" lvl="0" marL="0" rtl="0" algn="l">
              <a:spcBef>
                <a:spcPts val="1100"/>
              </a:spcBef>
              <a:spcAft>
                <a:spcPts val="1100"/>
              </a:spcAft>
              <a:buNone/>
            </a:pPr>
            <a:r>
              <a:rPr lang="en" sz="1550">
                <a:solidFill>
                  <a:srgbClr val="FFFF00"/>
                </a:solidFill>
                <a:latin typeface="Verdana"/>
                <a:ea typeface="Verdana"/>
                <a:cs typeface="Verdana"/>
                <a:sym typeface="Verdana"/>
              </a:rPr>
              <a:t>More &gt;&gt; https://developer.mozilla.org/en-US/docs/Web/CSS/Pseudo-elements</a:t>
            </a:r>
            <a:endParaRPr sz="2450">
              <a:solidFill>
                <a:srgbClr val="FFFF00"/>
              </a:solidFill>
              <a:latin typeface="Verdana"/>
              <a:ea typeface="Verdana"/>
              <a:cs typeface="Verdana"/>
              <a:sym typeface="Verdana"/>
            </a:endParaRPr>
          </a:p>
        </p:txBody>
      </p:sp>
      <p:pic>
        <p:nvPicPr>
          <p:cNvPr id="125" name="Google Shape;125;p20"/>
          <p:cNvPicPr preferRelativeResize="0"/>
          <p:nvPr/>
        </p:nvPicPr>
        <p:blipFill>
          <a:blip r:embed="rId3">
            <a:alphaModFix/>
          </a:blip>
          <a:stretch>
            <a:fillRect/>
          </a:stretch>
        </p:blipFill>
        <p:spPr>
          <a:xfrm>
            <a:off x="5131625" y="538250"/>
            <a:ext cx="2325310" cy="1144200"/>
          </a:xfrm>
          <a:prstGeom prst="rect">
            <a:avLst/>
          </a:prstGeom>
          <a:noFill/>
          <a:ln>
            <a:noFill/>
          </a:ln>
        </p:spPr>
      </p:pic>
      <p:pic>
        <p:nvPicPr>
          <p:cNvPr id="126" name="Google Shape;126;p20"/>
          <p:cNvPicPr preferRelativeResize="0"/>
          <p:nvPr/>
        </p:nvPicPr>
        <p:blipFill>
          <a:blip r:embed="rId4">
            <a:alphaModFix/>
          </a:blip>
          <a:stretch>
            <a:fillRect/>
          </a:stretch>
        </p:blipFill>
        <p:spPr>
          <a:xfrm>
            <a:off x="7748335" y="538250"/>
            <a:ext cx="1181100" cy="1066800"/>
          </a:xfrm>
          <a:prstGeom prst="rect">
            <a:avLst/>
          </a:prstGeom>
          <a:noFill/>
          <a:ln>
            <a:noFill/>
          </a:ln>
        </p:spPr>
      </p:pic>
      <p:sp>
        <p:nvSpPr>
          <p:cNvPr id="127" name="Google Shape;127;p20"/>
          <p:cNvSpPr txBox="1"/>
          <p:nvPr>
            <p:ph type="title"/>
          </p:nvPr>
        </p:nvSpPr>
        <p:spPr>
          <a:xfrm>
            <a:off x="486725" y="1738250"/>
            <a:ext cx="46449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::after pseudo elements</a:t>
            </a:r>
            <a:endParaRPr>
              <a:solidFill>
                <a:srgbClr val="FFFF00"/>
              </a:solidFill>
            </a:endParaRPr>
          </a:p>
        </p:txBody>
      </p:sp>
      <p:pic>
        <p:nvPicPr>
          <p:cNvPr id="128" name="Google Shape;128;p20"/>
          <p:cNvPicPr preferRelativeResize="0"/>
          <p:nvPr/>
        </p:nvPicPr>
        <p:blipFill>
          <a:blip r:embed="rId5">
            <a:alphaModFix/>
          </a:blip>
          <a:stretch>
            <a:fillRect/>
          </a:stretch>
        </p:blipFill>
        <p:spPr>
          <a:xfrm>
            <a:off x="4198200" y="2749425"/>
            <a:ext cx="4382425" cy="781050"/>
          </a:xfrm>
          <a:prstGeom prst="rect">
            <a:avLst/>
          </a:prstGeom>
          <a:noFill/>
          <a:ln>
            <a:noFill/>
          </a:ln>
        </p:spPr>
      </p:pic>
      <p:pic>
        <p:nvPicPr>
          <p:cNvPr id="129" name="Google Shape;129;p20"/>
          <p:cNvPicPr preferRelativeResize="0"/>
          <p:nvPr/>
        </p:nvPicPr>
        <p:blipFill>
          <a:blip r:embed="rId6">
            <a:alphaModFix/>
          </a:blip>
          <a:stretch>
            <a:fillRect/>
          </a:stretch>
        </p:blipFill>
        <p:spPr>
          <a:xfrm>
            <a:off x="5339550" y="1913825"/>
            <a:ext cx="2267621" cy="604225"/>
          </a:xfrm>
          <a:prstGeom prst="rect">
            <a:avLst/>
          </a:prstGeom>
          <a:noFill/>
          <a:ln>
            <a:noFill/>
          </a:ln>
        </p:spPr>
      </p:pic>
      <p:pic>
        <p:nvPicPr>
          <p:cNvPr id="130" name="Google Shape;130;p20"/>
          <p:cNvPicPr preferRelativeResize="0"/>
          <p:nvPr/>
        </p:nvPicPr>
        <p:blipFill>
          <a:blip r:embed="rId7">
            <a:alphaModFix/>
          </a:blip>
          <a:stretch>
            <a:fillRect/>
          </a:stretch>
        </p:blipFill>
        <p:spPr>
          <a:xfrm>
            <a:off x="941673" y="2518502"/>
            <a:ext cx="2325300" cy="170678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Any Question ????</a:t>
            </a:r>
            <a:endParaRPr>
              <a:solidFill>
                <a:srgbClr val="FFFF00"/>
              </a:solidFill>
            </a:endParaRPr>
          </a:p>
        </p:txBody>
      </p:sp>
      <p:pic>
        <p:nvPicPr>
          <p:cNvPr id="136" name="Google Shape;136;p21"/>
          <p:cNvPicPr preferRelativeResize="0"/>
          <p:nvPr/>
        </p:nvPicPr>
        <p:blipFill>
          <a:blip r:embed="rId3">
            <a:alphaModFix/>
          </a:blip>
          <a:stretch>
            <a:fillRect/>
          </a:stretch>
        </p:blipFill>
        <p:spPr>
          <a:xfrm>
            <a:off x="3218500" y="1703350"/>
            <a:ext cx="2286000" cy="2286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Display</a:t>
            </a:r>
            <a:endParaRPr>
              <a:solidFill>
                <a:srgbClr val="FFFF00"/>
              </a:solidFill>
            </a:endParaRPr>
          </a:p>
        </p:txBody>
      </p:sp>
      <p:sp>
        <p:nvSpPr>
          <p:cNvPr id="142" name="Google Shape;142;p22"/>
          <p:cNvSpPr txBox="1"/>
          <p:nvPr/>
        </p:nvSpPr>
        <p:spPr>
          <a:xfrm>
            <a:off x="426200" y="1387975"/>
            <a:ext cx="8189400" cy="59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display</a:t>
            </a:r>
            <a:r>
              <a:rPr lang="en" sz="1450">
                <a:solidFill>
                  <a:srgbClr val="FFFF00"/>
                </a:solidFill>
                <a:latin typeface="Verdana"/>
                <a:ea typeface="Verdana"/>
                <a:cs typeface="Verdana"/>
                <a:sym typeface="Verdana"/>
              </a:rPr>
              <a:t> </a:t>
            </a:r>
            <a:r>
              <a:rPr lang="en" sz="1450">
                <a:solidFill>
                  <a:schemeClr val="dk1"/>
                </a:solidFill>
                <a:latin typeface="Verdana"/>
                <a:ea typeface="Verdana"/>
                <a:cs typeface="Verdana"/>
                <a:sym typeface="Verdana"/>
              </a:rPr>
              <a:t>property specifies the display behavior (the type of rendering box) of an element</a:t>
            </a:r>
            <a:endParaRPr sz="1450">
              <a:solidFill>
                <a:schemeClr val="dk1"/>
              </a:solidFill>
              <a:latin typeface="Verdana"/>
              <a:ea typeface="Verdana"/>
              <a:cs typeface="Verdana"/>
              <a:sym typeface="Verdana"/>
            </a:endParaRPr>
          </a:p>
          <a:p>
            <a:pPr indent="0" lvl="0" marL="0" rtl="0" algn="l">
              <a:spcBef>
                <a:spcPts val="0"/>
              </a:spcBef>
              <a:spcAft>
                <a:spcPts val="0"/>
              </a:spcAft>
              <a:buNone/>
            </a:pPr>
            <a:r>
              <a:t/>
            </a:r>
            <a:endParaRPr sz="1150">
              <a:highlight>
                <a:srgbClr val="FFFFFF"/>
              </a:highlight>
              <a:latin typeface="Verdana"/>
              <a:ea typeface="Verdana"/>
              <a:cs typeface="Verdana"/>
              <a:sym typeface="Verdana"/>
            </a:endParaRPr>
          </a:p>
        </p:txBody>
      </p:sp>
      <p:pic>
        <p:nvPicPr>
          <p:cNvPr id="143" name="Google Shape;143;p22"/>
          <p:cNvPicPr preferRelativeResize="0"/>
          <p:nvPr/>
        </p:nvPicPr>
        <p:blipFill>
          <a:blip r:embed="rId3">
            <a:alphaModFix/>
          </a:blip>
          <a:stretch>
            <a:fillRect/>
          </a:stretch>
        </p:blipFill>
        <p:spPr>
          <a:xfrm>
            <a:off x="152400" y="1979275"/>
            <a:ext cx="4615074" cy="3011825"/>
          </a:xfrm>
          <a:prstGeom prst="rect">
            <a:avLst/>
          </a:prstGeom>
          <a:noFill/>
          <a:ln>
            <a:noFill/>
          </a:ln>
        </p:spPr>
      </p:pic>
      <p:pic>
        <p:nvPicPr>
          <p:cNvPr id="144" name="Google Shape;144;p22"/>
          <p:cNvPicPr preferRelativeResize="0"/>
          <p:nvPr/>
        </p:nvPicPr>
        <p:blipFill>
          <a:blip r:embed="rId4">
            <a:alphaModFix/>
          </a:blip>
          <a:stretch>
            <a:fillRect/>
          </a:stretch>
        </p:blipFill>
        <p:spPr>
          <a:xfrm>
            <a:off x="4919875" y="1979275"/>
            <a:ext cx="4071724" cy="30118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Position</a:t>
            </a:r>
            <a:endParaRPr>
              <a:solidFill>
                <a:srgbClr val="FFFF00"/>
              </a:solidFill>
            </a:endParaRPr>
          </a:p>
        </p:txBody>
      </p:sp>
      <p:sp>
        <p:nvSpPr>
          <p:cNvPr id="150" name="Google Shape;150;p23"/>
          <p:cNvSpPr txBox="1"/>
          <p:nvPr/>
        </p:nvSpPr>
        <p:spPr>
          <a:xfrm>
            <a:off x="403900" y="1209450"/>
            <a:ext cx="8189400" cy="3570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250">
                <a:solidFill>
                  <a:schemeClr val="dk1"/>
                </a:solidFill>
              </a:rPr>
              <a:t>The </a:t>
            </a:r>
            <a:r>
              <a:rPr lang="en" sz="1300">
                <a:solidFill>
                  <a:srgbClr val="FFFF00"/>
                </a:solidFill>
              </a:rPr>
              <a:t>position</a:t>
            </a:r>
            <a:r>
              <a:rPr lang="en" sz="1250">
                <a:solidFill>
                  <a:srgbClr val="FFFF00"/>
                </a:solidFill>
              </a:rPr>
              <a:t> </a:t>
            </a:r>
            <a:r>
              <a:rPr lang="en" sz="1250">
                <a:solidFill>
                  <a:schemeClr val="dk1"/>
                </a:solidFill>
              </a:rPr>
              <a:t>property specifies the type of positioning method used for an element.</a:t>
            </a:r>
            <a:endParaRPr sz="1250">
              <a:solidFill>
                <a:schemeClr val="dk1"/>
              </a:solidFill>
            </a:endParaRPr>
          </a:p>
          <a:p>
            <a:pPr indent="0" lvl="0" marL="0" rtl="0" algn="l">
              <a:lnSpc>
                <a:spcPct val="115000"/>
              </a:lnSpc>
              <a:spcBef>
                <a:spcPts val="1400"/>
              </a:spcBef>
              <a:spcAft>
                <a:spcPts val="0"/>
              </a:spcAft>
              <a:buNone/>
            </a:pPr>
            <a:r>
              <a:rPr lang="en" sz="1250">
                <a:solidFill>
                  <a:schemeClr val="dk1"/>
                </a:solidFill>
              </a:rPr>
              <a:t>There are five different position values:</a:t>
            </a:r>
            <a:endParaRPr sz="1250">
              <a:solidFill>
                <a:schemeClr val="dk1"/>
              </a:solidFill>
            </a:endParaRPr>
          </a:p>
          <a:p>
            <a:pPr indent="-301625" lvl="0" marL="457200" rtl="0" algn="l">
              <a:lnSpc>
                <a:spcPct val="115000"/>
              </a:lnSpc>
              <a:spcBef>
                <a:spcPts val="1400"/>
              </a:spcBef>
              <a:spcAft>
                <a:spcPts val="0"/>
              </a:spcAft>
              <a:buClr>
                <a:schemeClr val="dk1"/>
              </a:buClr>
              <a:buSzPts val="1150"/>
              <a:buFont typeface="Verdana"/>
              <a:buChar char="●"/>
            </a:pPr>
            <a:r>
              <a:rPr lang="en" sz="1300">
                <a:solidFill>
                  <a:srgbClr val="FFFF00"/>
                </a:solidFill>
              </a:rPr>
              <a:t>Static </a:t>
            </a:r>
            <a:r>
              <a:rPr lang="en" sz="1300">
                <a:solidFill>
                  <a:schemeClr val="dk1"/>
                </a:solidFill>
              </a:rPr>
              <a:t>: </a:t>
            </a:r>
            <a:r>
              <a:rPr lang="en" sz="1250">
                <a:solidFill>
                  <a:schemeClr val="dk1"/>
                </a:solidFill>
              </a:rPr>
              <a:t>HTML elements are positioned static by default.Static positioned elements are not affected by the top, bottom, left, and right properties.</a:t>
            </a:r>
            <a:endParaRPr sz="1300">
              <a:solidFill>
                <a:schemeClr val="dk1"/>
              </a:solidFill>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rPr>
              <a:t>Relative </a:t>
            </a:r>
            <a:r>
              <a:rPr lang="en" sz="1300">
                <a:solidFill>
                  <a:schemeClr val="dk1"/>
                </a:solidFill>
              </a:rPr>
              <a:t>:</a:t>
            </a:r>
            <a:r>
              <a:rPr lang="en" sz="1250">
                <a:solidFill>
                  <a:schemeClr val="dk1"/>
                </a:solidFill>
              </a:rPr>
              <a:t> is positioned relative to its normal position , will cause it to be adjusted away from its normal position. Other content will not be adjusted to fit into any gap left by the element.</a:t>
            </a:r>
            <a:endParaRPr sz="1300">
              <a:solidFill>
                <a:schemeClr val="dk1"/>
              </a:solidFill>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rPr>
              <a:t>Fixed </a:t>
            </a:r>
            <a:r>
              <a:rPr lang="en" sz="1300">
                <a:solidFill>
                  <a:schemeClr val="dk1"/>
                </a:solidFill>
              </a:rPr>
              <a:t>: </a:t>
            </a:r>
            <a:r>
              <a:rPr lang="en" sz="1250">
                <a:solidFill>
                  <a:schemeClr val="dk1"/>
                </a:solidFill>
              </a:rPr>
              <a:t>is positioned relative to the viewport, which means it always stays in the same place even if the page is scrolled. The top, right, bottom, and left properties are used to position the element.</a:t>
            </a:r>
            <a:endParaRPr sz="1300">
              <a:solidFill>
                <a:schemeClr val="dk1"/>
              </a:solidFill>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rPr>
              <a:t>Absolute </a:t>
            </a:r>
            <a:r>
              <a:rPr lang="en" sz="1300">
                <a:solidFill>
                  <a:schemeClr val="dk1"/>
                </a:solidFill>
              </a:rPr>
              <a:t>:</a:t>
            </a:r>
            <a:r>
              <a:rPr lang="en" sz="1250">
                <a:solidFill>
                  <a:schemeClr val="dk1"/>
                </a:solidFill>
              </a:rPr>
              <a:t> is positioned relative to the nearest positioned ancestor , However; if an absolute positioned element has no positioned ancestors, it uses the document body, and moves along with page scrolling.</a:t>
            </a:r>
            <a:endParaRPr sz="1300">
              <a:solidFill>
                <a:schemeClr val="dk1"/>
              </a:solidFill>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rPr>
              <a:t>Sticky </a:t>
            </a:r>
            <a:r>
              <a:rPr lang="en" sz="1300">
                <a:solidFill>
                  <a:schemeClr val="dk1"/>
                </a:solidFill>
              </a:rPr>
              <a:t>: </a:t>
            </a:r>
            <a:r>
              <a:rPr lang="en" sz="1250">
                <a:solidFill>
                  <a:schemeClr val="dk1"/>
                </a:solidFill>
              </a:rPr>
              <a:t>is positioned based on the user's scroll position.A sticky element toggles between </a:t>
            </a:r>
            <a:r>
              <a:rPr lang="en" sz="1300">
                <a:solidFill>
                  <a:schemeClr val="dk1"/>
                </a:solidFill>
              </a:rPr>
              <a:t>relative</a:t>
            </a:r>
            <a:r>
              <a:rPr lang="en" sz="1250">
                <a:solidFill>
                  <a:schemeClr val="dk1"/>
                </a:solidFill>
              </a:rPr>
              <a:t> and </a:t>
            </a:r>
            <a:r>
              <a:rPr lang="en" sz="1300">
                <a:solidFill>
                  <a:schemeClr val="dk1"/>
                </a:solidFill>
              </a:rPr>
              <a:t>fixed</a:t>
            </a:r>
            <a:r>
              <a:rPr lang="en" sz="1250">
                <a:solidFill>
                  <a:schemeClr val="dk1"/>
                </a:solidFill>
              </a:rPr>
              <a:t>, depending on the scroll position. It is positioned relative until a given offset position is met in the viewport - then it "sticks" in place (like position:fixed).</a:t>
            </a:r>
            <a:endParaRPr sz="1300">
              <a:solidFill>
                <a:schemeClr val="dk1"/>
              </a:solidFill>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a:p>
            <a:pPr indent="0" lvl="0" marL="0" rtl="0" algn="l">
              <a:spcBef>
                <a:spcPts val="0"/>
              </a:spcBef>
              <a:spcAft>
                <a:spcPts val="0"/>
              </a:spcAft>
              <a:buNone/>
            </a:pPr>
            <a:r>
              <a:t/>
            </a:r>
            <a:endParaRPr sz="1150">
              <a:highlight>
                <a:srgbClr val="FFFFFF"/>
              </a:highlight>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HTML Layout</a:t>
            </a:r>
            <a:endParaRPr>
              <a:solidFill>
                <a:srgbClr val="FFFF00"/>
              </a:solidFill>
            </a:endParaRPr>
          </a:p>
        </p:txBody>
      </p:sp>
      <p:sp>
        <p:nvSpPr>
          <p:cNvPr id="156" name="Google Shape;156;p24"/>
          <p:cNvSpPr txBox="1"/>
          <p:nvPr/>
        </p:nvSpPr>
        <p:spPr>
          <a:xfrm>
            <a:off x="507600" y="1307225"/>
            <a:ext cx="5907300" cy="338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450">
                <a:solidFill>
                  <a:schemeClr val="dk1"/>
                </a:solidFill>
                <a:latin typeface="Verdana"/>
                <a:ea typeface="Verdana"/>
                <a:cs typeface="Verdana"/>
                <a:sym typeface="Verdana"/>
              </a:rPr>
              <a:t>HTML has several semantic elements that define the different parts of a web page:</a:t>
            </a:r>
            <a:endParaRPr sz="1450">
              <a:solidFill>
                <a:schemeClr val="dk1"/>
              </a:solidFill>
              <a:latin typeface="Verdana"/>
              <a:ea typeface="Verdana"/>
              <a:cs typeface="Verdana"/>
              <a:sym typeface="Verdana"/>
            </a:endParaRPr>
          </a:p>
          <a:p>
            <a:pPr indent="0" lvl="0" marL="0" rtl="0" algn="l">
              <a:spcBef>
                <a:spcPts val="0"/>
              </a:spcBef>
              <a:spcAft>
                <a:spcPts val="0"/>
              </a:spcAft>
              <a:buNone/>
            </a:pPr>
            <a:r>
              <a:t/>
            </a:r>
            <a:endParaRPr sz="1450">
              <a:solidFill>
                <a:schemeClr val="dk1"/>
              </a:solidFill>
              <a:latin typeface="Verdana"/>
              <a:ea typeface="Verdana"/>
              <a:cs typeface="Verdana"/>
              <a:sym typeface="Verdana"/>
            </a:endParaRPr>
          </a:p>
          <a:p>
            <a:pPr indent="-301625" lvl="0" marL="457200" rtl="0" algn="l">
              <a:lnSpc>
                <a:spcPct val="115000"/>
              </a:lnSpc>
              <a:spcBef>
                <a:spcPts val="110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&lt;header&gt;</a:t>
            </a:r>
            <a:r>
              <a:rPr lang="en" sz="1250">
                <a:solidFill>
                  <a:srgbClr val="FFFF00"/>
                </a:solidFill>
                <a:latin typeface="Verdana"/>
                <a:ea typeface="Verdana"/>
                <a:cs typeface="Verdana"/>
                <a:sym typeface="Verdana"/>
              </a:rPr>
              <a:t> </a:t>
            </a:r>
            <a:r>
              <a:rPr lang="en" sz="1250">
                <a:solidFill>
                  <a:schemeClr val="dk1"/>
                </a:solidFill>
                <a:latin typeface="Verdana"/>
                <a:ea typeface="Verdana"/>
                <a:cs typeface="Verdana"/>
                <a:sym typeface="Verdana"/>
              </a:rPr>
              <a:t>- Defines a header for a document or a section</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&lt;nav&gt;</a:t>
            </a:r>
            <a:r>
              <a:rPr lang="en" sz="1250">
                <a:solidFill>
                  <a:srgbClr val="FFFF00"/>
                </a:solidFill>
                <a:latin typeface="Verdana"/>
                <a:ea typeface="Verdana"/>
                <a:cs typeface="Verdana"/>
                <a:sym typeface="Verdana"/>
              </a:rPr>
              <a:t> </a:t>
            </a:r>
            <a:r>
              <a:rPr lang="en" sz="1250">
                <a:solidFill>
                  <a:schemeClr val="dk1"/>
                </a:solidFill>
                <a:latin typeface="Verdana"/>
                <a:ea typeface="Verdana"/>
                <a:cs typeface="Verdana"/>
                <a:sym typeface="Verdana"/>
              </a:rPr>
              <a:t>- Defines a set of navigation links</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&lt;section&gt;</a:t>
            </a:r>
            <a:r>
              <a:rPr lang="en" sz="1250">
                <a:solidFill>
                  <a:schemeClr val="dk1"/>
                </a:solidFill>
                <a:latin typeface="Verdana"/>
                <a:ea typeface="Verdana"/>
                <a:cs typeface="Verdana"/>
                <a:sym typeface="Verdana"/>
              </a:rPr>
              <a:t> - Defines a section in a document</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&lt;article&gt;</a:t>
            </a:r>
            <a:r>
              <a:rPr lang="en" sz="1250">
                <a:solidFill>
                  <a:schemeClr val="dk1"/>
                </a:solidFill>
                <a:latin typeface="Verdana"/>
                <a:ea typeface="Verdana"/>
                <a:cs typeface="Verdana"/>
                <a:sym typeface="Verdana"/>
              </a:rPr>
              <a:t> - Defines an independent, self-contained content</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&lt;aside&gt;</a:t>
            </a:r>
            <a:r>
              <a:rPr lang="en" sz="1250">
                <a:solidFill>
                  <a:srgbClr val="FFFF00"/>
                </a:solidFill>
                <a:latin typeface="Verdana"/>
                <a:ea typeface="Verdana"/>
                <a:cs typeface="Verdana"/>
                <a:sym typeface="Verdana"/>
              </a:rPr>
              <a:t> </a:t>
            </a:r>
            <a:r>
              <a:rPr lang="en" sz="1250">
                <a:solidFill>
                  <a:schemeClr val="dk1"/>
                </a:solidFill>
                <a:latin typeface="Verdana"/>
                <a:ea typeface="Verdana"/>
                <a:cs typeface="Verdana"/>
                <a:sym typeface="Verdana"/>
              </a:rPr>
              <a:t>- Defines content aside from the content (like a sidebar)</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&lt;footer&gt;</a:t>
            </a:r>
            <a:r>
              <a:rPr lang="en" sz="1250">
                <a:solidFill>
                  <a:srgbClr val="FFFF00"/>
                </a:solidFill>
                <a:latin typeface="Verdana"/>
                <a:ea typeface="Verdana"/>
                <a:cs typeface="Verdana"/>
                <a:sym typeface="Verdana"/>
              </a:rPr>
              <a:t> </a:t>
            </a:r>
            <a:r>
              <a:rPr lang="en" sz="1250">
                <a:solidFill>
                  <a:schemeClr val="dk1"/>
                </a:solidFill>
                <a:latin typeface="Verdana"/>
                <a:ea typeface="Verdana"/>
                <a:cs typeface="Verdana"/>
                <a:sym typeface="Verdana"/>
              </a:rPr>
              <a:t>- Defines a footer for a document or a section</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&lt;details&gt;</a:t>
            </a:r>
            <a:r>
              <a:rPr lang="en" sz="1250">
                <a:solidFill>
                  <a:srgbClr val="FFFF00"/>
                </a:solidFill>
                <a:latin typeface="Verdana"/>
                <a:ea typeface="Verdana"/>
                <a:cs typeface="Verdana"/>
                <a:sym typeface="Verdana"/>
              </a:rPr>
              <a:t> -</a:t>
            </a:r>
            <a:r>
              <a:rPr lang="en" sz="1250">
                <a:solidFill>
                  <a:schemeClr val="dk1"/>
                </a:solidFill>
                <a:latin typeface="Verdana"/>
                <a:ea typeface="Verdana"/>
                <a:cs typeface="Verdana"/>
                <a:sym typeface="Verdana"/>
              </a:rPr>
              <a:t> Defines additional details that the user can open and close on demand</a:t>
            </a:r>
            <a:endParaRPr sz="12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00">
                <a:solidFill>
                  <a:srgbClr val="FFFF00"/>
                </a:solidFill>
                <a:latin typeface="Courier New"/>
                <a:ea typeface="Courier New"/>
                <a:cs typeface="Courier New"/>
                <a:sym typeface="Courier New"/>
              </a:rPr>
              <a:t>&lt;summary&gt;</a:t>
            </a:r>
            <a:r>
              <a:rPr lang="en" sz="1250">
                <a:solidFill>
                  <a:schemeClr val="dk1"/>
                </a:solidFill>
                <a:latin typeface="Verdana"/>
                <a:ea typeface="Verdana"/>
                <a:cs typeface="Verdana"/>
                <a:sym typeface="Verdana"/>
              </a:rPr>
              <a:t> - Defines a heading for the </a:t>
            </a:r>
            <a:r>
              <a:rPr lang="en" sz="1300">
                <a:solidFill>
                  <a:schemeClr val="dk1"/>
                </a:solidFill>
                <a:latin typeface="Courier New"/>
                <a:ea typeface="Courier New"/>
                <a:cs typeface="Courier New"/>
                <a:sym typeface="Courier New"/>
              </a:rPr>
              <a:t>&lt;details&gt;</a:t>
            </a:r>
            <a:r>
              <a:rPr lang="en" sz="1250">
                <a:solidFill>
                  <a:schemeClr val="dk1"/>
                </a:solidFill>
                <a:latin typeface="Verdana"/>
                <a:ea typeface="Verdana"/>
                <a:cs typeface="Verdana"/>
                <a:sym typeface="Verdana"/>
              </a:rPr>
              <a:t> element</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pic>
        <p:nvPicPr>
          <p:cNvPr id="157" name="Google Shape;157;p24"/>
          <p:cNvPicPr preferRelativeResize="0"/>
          <p:nvPr/>
        </p:nvPicPr>
        <p:blipFill>
          <a:blip r:embed="rId3">
            <a:alphaModFix/>
          </a:blip>
          <a:stretch>
            <a:fillRect/>
          </a:stretch>
        </p:blipFill>
        <p:spPr>
          <a:xfrm>
            <a:off x="6567300" y="1731625"/>
            <a:ext cx="2424300" cy="288815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HTML Layout </a:t>
            </a:r>
            <a:r>
              <a:rPr lang="en">
                <a:solidFill>
                  <a:srgbClr val="FFFF00"/>
                </a:solidFill>
              </a:rPr>
              <a:t>Techniques</a:t>
            </a:r>
            <a:endParaRPr>
              <a:solidFill>
                <a:srgbClr val="FFFF00"/>
              </a:solidFill>
            </a:endParaRPr>
          </a:p>
        </p:txBody>
      </p:sp>
      <p:sp>
        <p:nvSpPr>
          <p:cNvPr id="163" name="Google Shape;163;p25"/>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450">
                <a:solidFill>
                  <a:schemeClr val="dk1"/>
                </a:solidFill>
                <a:latin typeface="Verdana"/>
                <a:ea typeface="Verdana"/>
                <a:cs typeface="Verdana"/>
                <a:sym typeface="Verdana"/>
              </a:rPr>
              <a:t>There are four different techniques to create multicolumn layouts. Each technique has its pros and cons:</a:t>
            </a:r>
            <a:endParaRPr sz="1450">
              <a:solidFill>
                <a:schemeClr val="dk1"/>
              </a:solidFill>
              <a:latin typeface="Verdana"/>
              <a:ea typeface="Verdana"/>
              <a:cs typeface="Verdana"/>
              <a:sym typeface="Verdana"/>
            </a:endParaRPr>
          </a:p>
          <a:p>
            <a:pPr indent="-320675" lvl="0" marL="457200" rtl="0" algn="l">
              <a:lnSpc>
                <a:spcPct val="115000"/>
              </a:lnSpc>
              <a:spcBef>
                <a:spcPts val="1400"/>
              </a:spcBef>
              <a:spcAft>
                <a:spcPts val="0"/>
              </a:spcAft>
              <a:buClr>
                <a:schemeClr val="dk1"/>
              </a:buClr>
              <a:buSzPts val="1450"/>
              <a:buFont typeface="Verdana"/>
              <a:buChar char="●"/>
            </a:pPr>
            <a:r>
              <a:rPr lang="en" sz="1450">
                <a:solidFill>
                  <a:schemeClr val="dk1"/>
                </a:solidFill>
                <a:latin typeface="Verdana"/>
                <a:ea typeface="Verdana"/>
                <a:cs typeface="Verdana"/>
                <a:sym typeface="Verdana"/>
              </a:rPr>
              <a:t>CSS framework : </a:t>
            </a:r>
            <a:r>
              <a:rPr lang="en" sz="1350" u="sng">
                <a:solidFill>
                  <a:schemeClr val="hlink"/>
                </a:solidFill>
                <a:latin typeface="Verdana"/>
                <a:ea typeface="Verdana"/>
                <a:cs typeface="Verdana"/>
                <a:sym typeface="Verdana"/>
                <a:hlinkClick r:id="rId3"/>
              </a:rPr>
              <a:t>Bootstrap</a:t>
            </a:r>
            <a:r>
              <a:rPr lang="en" sz="1350">
                <a:latin typeface="Verdana"/>
                <a:ea typeface="Verdana"/>
                <a:cs typeface="Verdana"/>
                <a:sym typeface="Verdana"/>
              </a:rPr>
              <a:t>.</a:t>
            </a:r>
            <a:endParaRPr sz="1650">
              <a:solidFill>
                <a:schemeClr val="dk1"/>
              </a:solidFill>
              <a:latin typeface="Verdana"/>
              <a:ea typeface="Verdana"/>
              <a:cs typeface="Verdana"/>
              <a:sym typeface="Verdana"/>
            </a:endParaRPr>
          </a:p>
          <a:p>
            <a:pPr indent="-320675" lvl="0" marL="457200" rtl="0" algn="l">
              <a:lnSpc>
                <a:spcPct val="115000"/>
              </a:lnSpc>
              <a:spcBef>
                <a:spcPts val="0"/>
              </a:spcBef>
              <a:spcAft>
                <a:spcPts val="0"/>
              </a:spcAft>
              <a:buClr>
                <a:schemeClr val="dk1"/>
              </a:buClr>
              <a:buSzPts val="1450"/>
              <a:buFont typeface="Verdana"/>
              <a:buChar char="●"/>
            </a:pPr>
            <a:r>
              <a:rPr lang="en" sz="1450">
                <a:solidFill>
                  <a:schemeClr val="dk1"/>
                </a:solidFill>
                <a:latin typeface="Verdana"/>
                <a:ea typeface="Verdana"/>
                <a:cs typeface="Verdana"/>
                <a:sym typeface="Verdana"/>
              </a:rPr>
              <a:t>CSS float property </a:t>
            </a:r>
            <a:endParaRPr sz="1450">
              <a:solidFill>
                <a:schemeClr val="dk1"/>
              </a:solidFill>
              <a:latin typeface="Verdana"/>
              <a:ea typeface="Verdana"/>
              <a:cs typeface="Verdana"/>
              <a:sym typeface="Verdana"/>
            </a:endParaRPr>
          </a:p>
          <a:p>
            <a:pPr indent="-320675" lvl="0" marL="457200" rtl="0" algn="l">
              <a:lnSpc>
                <a:spcPct val="115000"/>
              </a:lnSpc>
              <a:spcBef>
                <a:spcPts val="0"/>
              </a:spcBef>
              <a:spcAft>
                <a:spcPts val="0"/>
              </a:spcAft>
              <a:buClr>
                <a:schemeClr val="dk1"/>
              </a:buClr>
              <a:buSzPts val="1450"/>
              <a:buFont typeface="Verdana"/>
              <a:buChar char="●"/>
            </a:pPr>
            <a:r>
              <a:rPr lang="en" sz="1450">
                <a:solidFill>
                  <a:schemeClr val="dk1"/>
                </a:solidFill>
                <a:latin typeface="Verdana"/>
                <a:ea typeface="Verdana"/>
                <a:cs typeface="Verdana"/>
                <a:sym typeface="Verdana"/>
              </a:rPr>
              <a:t>CSS flexbox</a:t>
            </a:r>
            <a:endParaRPr sz="1450">
              <a:solidFill>
                <a:schemeClr val="dk1"/>
              </a:solidFill>
              <a:latin typeface="Verdana"/>
              <a:ea typeface="Verdana"/>
              <a:cs typeface="Verdana"/>
              <a:sym typeface="Verdana"/>
            </a:endParaRPr>
          </a:p>
          <a:p>
            <a:pPr indent="-320675" lvl="0" marL="457200" rtl="0" algn="l">
              <a:lnSpc>
                <a:spcPct val="115000"/>
              </a:lnSpc>
              <a:spcBef>
                <a:spcPts val="0"/>
              </a:spcBef>
              <a:spcAft>
                <a:spcPts val="0"/>
              </a:spcAft>
              <a:buClr>
                <a:schemeClr val="dk1"/>
              </a:buClr>
              <a:buSzPts val="1450"/>
              <a:buFont typeface="Verdana"/>
              <a:buChar char="●"/>
            </a:pPr>
            <a:r>
              <a:rPr lang="en" sz="1450">
                <a:solidFill>
                  <a:schemeClr val="dk1"/>
                </a:solidFill>
                <a:latin typeface="Verdana"/>
                <a:ea typeface="Verdana"/>
                <a:cs typeface="Verdana"/>
                <a:sym typeface="Verdana"/>
              </a:rPr>
              <a:t>CSS grid</a:t>
            </a:r>
            <a:endParaRPr sz="1450">
              <a:solidFill>
                <a:schemeClr val="dk1"/>
              </a:solidFill>
              <a:latin typeface="Verdana"/>
              <a:ea typeface="Verdana"/>
              <a:cs typeface="Verdana"/>
              <a:sym typeface="Verdana"/>
            </a:endParaRPr>
          </a:p>
          <a:p>
            <a:pPr indent="0" lvl="0" marL="0" rtl="0" algn="l">
              <a:lnSpc>
                <a:spcPct val="115000"/>
              </a:lnSpc>
              <a:spcBef>
                <a:spcPts val="11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CSS float Property</a:t>
            </a:r>
            <a:endParaRPr>
              <a:solidFill>
                <a:srgbClr val="FFFF00"/>
              </a:solidFill>
            </a:endParaRPr>
          </a:p>
        </p:txBody>
      </p:sp>
      <p:sp>
        <p:nvSpPr>
          <p:cNvPr id="169" name="Google Shape;169;p26"/>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500">
                <a:solidFill>
                  <a:schemeClr val="dk1"/>
                </a:solidFill>
                <a:latin typeface="Verdana"/>
                <a:ea typeface="Verdana"/>
                <a:cs typeface="Verdana"/>
                <a:sym typeface="Verdana"/>
              </a:rPr>
              <a:t>The CSS </a:t>
            </a:r>
            <a:r>
              <a:rPr lang="en" sz="1550">
                <a:solidFill>
                  <a:srgbClr val="FFFF00"/>
                </a:solidFill>
                <a:latin typeface="Courier New"/>
                <a:ea typeface="Courier New"/>
                <a:cs typeface="Courier New"/>
                <a:sym typeface="Courier New"/>
              </a:rPr>
              <a:t>float</a:t>
            </a:r>
            <a:r>
              <a:rPr lang="en" sz="1500">
                <a:solidFill>
                  <a:srgbClr val="FFFF00"/>
                </a:solidFill>
                <a:latin typeface="Verdana"/>
                <a:ea typeface="Verdana"/>
                <a:cs typeface="Verdana"/>
                <a:sym typeface="Verdana"/>
              </a:rPr>
              <a:t> </a:t>
            </a:r>
            <a:r>
              <a:rPr lang="en" sz="1500">
                <a:solidFill>
                  <a:schemeClr val="dk1"/>
                </a:solidFill>
                <a:latin typeface="Verdana"/>
                <a:ea typeface="Verdana"/>
                <a:cs typeface="Verdana"/>
                <a:sym typeface="Verdana"/>
              </a:rPr>
              <a:t>property specifies how an element should float.</a:t>
            </a:r>
            <a:endParaRPr sz="1500">
              <a:solidFill>
                <a:schemeClr val="dk1"/>
              </a:solidFill>
              <a:latin typeface="Verdana"/>
              <a:ea typeface="Verdana"/>
              <a:cs typeface="Verdana"/>
              <a:sym typeface="Verdana"/>
            </a:endParaRPr>
          </a:p>
          <a:p>
            <a:pPr indent="-301625" lvl="0" marL="457200" rtl="0" algn="l">
              <a:lnSpc>
                <a:spcPct val="115000"/>
              </a:lnSpc>
              <a:spcBef>
                <a:spcPts val="1400"/>
              </a:spcBef>
              <a:spcAft>
                <a:spcPts val="0"/>
              </a:spcAft>
              <a:buClr>
                <a:schemeClr val="dk1"/>
              </a:buClr>
              <a:buSzPts val="1150"/>
              <a:buFont typeface="Verdana"/>
              <a:buChar char="●"/>
            </a:pPr>
            <a:r>
              <a:rPr lang="en" sz="1600">
                <a:solidFill>
                  <a:srgbClr val="FFFF00"/>
                </a:solidFill>
                <a:latin typeface="Courier New"/>
                <a:ea typeface="Courier New"/>
                <a:cs typeface="Courier New"/>
                <a:sym typeface="Courier New"/>
              </a:rPr>
              <a:t>left</a:t>
            </a:r>
            <a:r>
              <a:rPr lang="en" sz="1550">
                <a:solidFill>
                  <a:srgbClr val="FFFF00"/>
                </a:solidFill>
                <a:latin typeface="Verdana"/>
                <a:ea typeface="Verdana"/>
                <a:cs typeface="Verdana"/>
                <a:sym typeface="Verdana"/>
              </a:rPr>
              <a:t> </a:t>
            </a:r>
            <a:r>
              <a:rPr lang="en" sz="1550">
                <a:solidFill>
                  <a:schemeClr val="dk1"/>
                </a:solidFill>
                <a:latin typeface="Verdana"/>
                <a:ea typeface="Verdana"/>
                <a:cs typeface="Verdana"/>
                <a:sym typeface="Verdana"/>
              </a:rPr>
              <a:t>- The element floats to the left of its container</a:t>
            </a:r>
            <a:endParaRPr sz="15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600">
                <a:solidFill>
                  <a:srgbClr val="FFFF00"/>
                </a:solidFill>
                <a:latin typeface="Courier New"/>
                <a:ea typeface="Courier New"/>
                <a:cs typeface="Courier New"/>
                <a:sym typeface="Courier New"/>
              </a:rPr>
              <a:t>right</a:t>
            </a:r>
            <a:r>
              <a:rPr lang="en" sz="1550">
                <a:solidFill>
                  <a:srgbClr val="FFFF00"/>
                </a:solidFill>
                <a:latin typeface="Verdana"/>
                <a:ea typeface="Verdana"/>
                <a:cs typeface="Verdana"/>
                <a:sym typeface="Verdana"/>
              </a:rPr>
              <a:t> </a:t>
            </a:r>
            <a:r>
              <a:rPr lang="en" sz="1550">
                <a:solidFill>
                  <a:schemeClr val="dk1"/>
                </a:solidFill>
                <a:latin typeface="Verdana"/>
                <a:ea typeface="Verdana"/>
                <a:cs typeface="Verdana"/>
                <a:sym typeface="Verdana"/>
              </a:rPr>
              <a:t>- The element floats to the right of its container</a:t>
            </a:r>
            <a:endParaRPr sz="15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600">
                <a:solidFill>
                  <a:srgbClr val="FFFF00"/>
                </a:solidFill>
                <a:latin typeface="Courier New"/>
                <a:ea typeface="Courier New"/>
                <a:cs typeface="Courier New"/>
                <a:sym typeface="Courier New"/>
              </a:rPr>
              <a:t>none</a:t>
            </a:r>
            <a:r>
              <a:rPr lang="en" sz="1550">
                <a:solidFill>
                  <a:schemeClr val="dk1"/>
                </a:solidFill>
                <a:latin typeface="Verdana"/>
                <a:ea typeface="Verdana"/>
                <a:cs typeface="Verdana"/>
                <a:sym typeface="Verdana"/>
              </a:rPr>
              <a:t> - The element does not float (will be displayed just where it occurs in the text). This is default</a:t>
            </a:r>
            <a:endParaRPr sz="15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600">
                <a:solidFill>
                  <a:srgbClr val="FFFF00"/>
                </a:solidFill>
                <a:latin typeface="Courier New"/>
                <a:ea typeface="Courier New"/>
                <a:cs typeface="Courier New"/>
                <a:sym typeface="Courier New"/>
              </a:rPr>
              <a:t>inherit</a:t>
            </a:r>
            <a:r>
              <a:rPr lang="en" sz="1550">
                <a:solidFill>
                  <a:schemeClr val="dk1"/>
                </a:solidFill>
                <a:latin typeface="Verdana"/>
                <a:ea typeface="Verdana"/>
                <a:cs typeface="Verdana"/>
                <a:sym typeface="Verdana"/>
              </a:rPr>
              <a:t> - The element inherits the float value of its parent</a:t>
            </a:r>
            <a:endParaRPr sz="15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CSS clear Property</a:t>
            </a:r>
            <a:endParaRPr>
              <a:solidFill>
                <a:srgbClr val="FFFF00"/>
              </a:solidFill>
            </a:endParaRPr>
          </a:p>
        </p:txBody>
      </p:sp>
      <p:sp>
        <p:nvSpPr>
          <p:cNvPr id="175" name="Google Shape;175;p27"/>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When we use the </a:t>
            </a:r>
            <a:r>
              <a:rPr lang="en">
                <a:solidFill>
                  <a:srgbClr val="FFFF00"/>
                </a:solidFill>
                <a:latin typeface="Courier New"/>
                <a:ea typeface="Courier New"/>
                <a:cs typeface="Courier New"/>
                <a:sym typeface="Courier New"/>
              </a:rPr>
              <a:t>float</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and we want the next element below (not on right or left), we will have to use the </a:t>
            </a:r>
            <a:r>
              <a:rPr lang="en">
                <a:solidFill>
                  <a:schemeClr val="dk1"/>
                </a:solidFill>
                <a:latin typeface="Courier New"/>
                <a:ea typeface="Courier New"/>
                <a:cs typeface="Courier New"/>
                <a:sym typeface="Courier New"/>
              </a:rPr>
              <a:t>clear</a:t>
            </a:r>
            <a:r>
              <a:rPr lang="en" sz="1350">
                <a:solidFill>
                  <a:schemeClr val="dk1"/>
                </a:solidFill>
                <a:latin typeface="Verdana"/>
                <a:ea typeface="Verdana"/>
                <a:cs typeface="Verdana"/>
                <a:sym typeface="Verdana"/>
              </a:rPr>
              <a:t> property.</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clear</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specifies what should happen with the element that is next to a floating element.</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clear</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can have one of the following values:</a:t>
            </a:r>
            <a:endParaRPr sz="1350">
              <a:solidFill>
                <a:schemeClr val="dk1"/>
              </a:solidFill>
              <a:latin typeface="Verdana"/>
              <a:ea typeface="Verdana"/>
              <a:cs typeface="Verdana"/>
              <a:sym typeface="Verdana"/>
            </a:endParaRPr>
          </a:p>
          <a:p>
            <a:pPr indent="-301625" lvl="0" marL="457200" rtl="0" algn="l">
              <a:lnSpc>
                <a:spcPct val="115000"/>
              </a:lnSpc>
              <a:spcBef>
                <a:spcPts val="1400"/>
              </a:spcBef>
              <a:spcAft>
                <a:spcPts val="0"/>
              </a:spcAft>
              <a:buClr>
                <a:schemeClr val="dk1"/>
              </a:buClr>
              <a:buSzPts val="1150"/>
              <a:buFont typeface="Verdana"/>
              <a:buChar char="●"/>
            </a:pPr>
            <a:r>
              <a:rPr lang="en">
                <a:solidFill>
                  <a:srgbClr val="FFFF00"/>
                </a:solidFill>
                <a:latin typeface="Courier New"/>
                <a:ea typeface="Courier New"/>
                <a:cs typeface="Courier New"/>
                <a:sym typeface="Courier New"/>
              </a:rPr>
              <a:t>none</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 The element is not pushed below left or right floated elements. This is default</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a:solidFill>
                  <a:srgbClr val="FFFF00"/>
                </a:solidFill>
                <a:latin typeface="Courier New"/>
                <a:ea typeface="Courier New"/>
                <a:cs typeface="Courier New"/>
                <a:sym typeface="Courier New"/>
              </a:rPr>
              <a:t>left</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 The element is pushed below left floated elements</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a:solidFill>
                  <a:srgbClr val="FFFF00"/>
                </a:solidFill>
                <a:latin typeface="Courier New"/>
                <a:ea typeface="Courier New"/>
                <a:cs typeface="Courier New"/>
                <a:sym typeface="Courier New"/>
              </a:rPr>
              <a:t>right</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 The element is pushed below right floated elements</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a:solidFill>
                  <a:srgbClr val="FFFF00"/>
                </a:solidFill>
                <a:latin typeface="Courier New"/>
                <a:ea typeface="Courier New"/>
                <a:cs typeface="Courier New"/>
                <a:sym typeface="Courier New"/>
              </a:rPr>
              <a:t>both</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 The element is pushed below both left and right floated elements</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a:solidFill>
                  <a:srgbClr val="FFFF00"/>
                </a:solidFill>
                <a:latin typeface="Courier New"/>
                <a:ea typeface="Courier New"/>
                <a:cs typeface="Courier New"/>
                <a:sym typeface="Courier New"/>
              </a:rPr>
              <a:t>inherit</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 The element inherits the clear value from its parent</a:t>
            </a:r>
            <a:endParaRPr sz="17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28"/>
          <p:cNvPicPr preferRelativeResize="0"/>
          <p:nvPr/>
        </p:nvPicPr>
        <p:blipFill>
          <a:blip r:embed="rId3">
            <a:alphaModFix/>
          </a:blip>
          <a:stretch>
            <a:fillRect/>
          </a:stretch>
        </p:blipFill>
        <p:spPr>
          <a:xfrm>
            <a:off x="579150" y="3325000"/>
            <a:ext cx="5891774" cy="1632075"/>
          </a:xfrm>
          <a:prstGeom prst="rect">
            <a:avLst/>
          </a:prstGeom>
          <a:noFill/>
          <a:ln>
            <a:noFill/>
          </a:ln>
        </p:spPr>
      </p:pic>
      <p:pic>
        <p:nvPicPr>
          <p:cNvPr id="181" name="Google Shape;181;p28"/>
          <p:cNvPicPr preferRelativeResize="0"/>
          <p:nvPr/>
        </p:nvPicPr>
        <p:blipFill>
          <a:blip r:embed="rId4">
            <a:alphaModFix/>
          </a:blip>
          <a:stretch>
            <a:fillRect/>
          </a:stretch>
        </p:blipFill>
        <p:spPr>
          <a:xfrm>
            <a:off x="7024876" y="271650"/>
            <a:ext cx="1954480" cy="3820976"/>
          </a:xfrm>
          <a:prstGeom prst="rect">
            <a:avLst/>
          </a:prstGeom>
          <a:noFill/>
          <a:ln>
            <a:noFill/>
          </a:ln>
        </p:spPr>
      </p:pic>
      <p:pic>
        <p:nvPicPr>
          <p:cNvPr id="182" name="Google Shape;182;p28"/>
          <p:cNvPicPr preferRelativeResize="0"/>
          <p:nvPr/>
        </p:nvPicPr>
        <p:blipFill>
          <a:blip r:embed="rId5">
            <a:alphaModFix/>
          </a:blip>
          <a:stretch>
            <a:fillRect/>
          </a:stretch>
        </p:blipFill>
        <p:spPr>
          <a:xfrm>
            <a:off x="462700" y="316575"/>
            <a:ext cx="6348875" cy="291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9"/>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Flexbox layout</a:t>
            </a:r>
            <a:endParaRPr>
              <a:solidFill>
                <a:srgbClr val="FFFF00"/>
              </a:solidFill>
            </a:endParaRPr>
          </a:p>
        </p:txBody>
      </p:sp>
      <p:sp>
        <p:nvSpPr>
          <p:cNvPr id="188" name="Google Shape;188;p29"/>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650">
                <a:solidFill>
                  <a:schemeClr val="dk1"/>
                </a:solidFill>
                <a:latin typeface="Verdana"/>
                <a:ea typeface="Verdana"/>
                <a:cs typeface="Verdana"/>
                <a:sym typeface="Verdana"/>
              </a:rPr>
              <a:t>Before the Flexbox Layout module, there were four layout modes:</a:t>
            </a:r>
            <a:endParaRPr sz="1650">
              <a:solidFill>
                <a:schemeClr val="dk1"/>
              </a:solidFill>
              <a:latin typeface="Verdana"/>
              <a:ea typeface="Verdana"/>
              <a:cs typeface="Verdana"/>
              <a:sym typeface="Verdana"/>
            </a:endParaRPr>
          </a:p>
          <a:p>
            <a:pPr indent="-333375" lvl="0" marL="457200" rtl="0" algn="l">
              <a:lnSpc>
                <a:spcPct val="115000"/>
              </a:lnSpc>
              <a:spcBef>
                <a:spcPts val="1400"/>
              </a:spcBef>
              <a:spcAft>
                <a:spcPts val="0"/>
              </a:spcAft>
              <a:buClr>
                <a:schemeClr val="dk1"/>
              </a:buClr>
              <a:buSzPts val="1650"/>
              <a:buFont typeface="Verdana"/>
              <a:buChar char="●"/>
            </a:pPr>
            <a:r>
              <a:rPr lang="en" sz="1650">
                <a:solidFill>
                  <a:schemeClr val="dk1"/>
                </a:solidFill>
                <a:latin typeface="Verdana"/>
                <a:ea typeface="Verdana"/>
                <a:cs typeface="Verdana"/>
                <a:sym typeface="Verdana"/>
              </a:rPr>
              <a:t>Block, for sections in a webpage</a:t>
            </a:r>
            <a:endParaRPr sz="1650">
              <a:solidFill>
                <a:schemeClr val="dk1"/>
              </a:solidFill>
              <a:latin typeface="Verdana"/>
              <a:ea typeface="Verdana"/>
              <a:cs typeface="Verdana"/>
              <a:sym typeface="Verdana"/>
            </a:endParaRPr>
          </a:p>
          <a:p>
            <a:pPr indent="-333375" lvl="0" marL="457200" rtl="0" algn="l">
              <a:lnSpc>
                <a:spcPct val="115000"/>
              </a:lnSpc>
              <a:spcBef>
                <a:spcPts val="0"/>
              </a:spcBef>
              <a:spcAft>
                <a:spcPts val="0"/>
              </a:spcAft>
              <a:buClr>
                <a:schemeClr val="dk1"/>
              </a:buClr>
              <a:buSzPts val="1650"/>
              <a:buFont typeface="Verdana"/>
              <a:buChar char="●"/>
            </a:pPr>
            <a:r>
              <a:rPr lang="en" sz="1650">
                <a:solidFill>
                  <a:schemeClr val="dk1"/>
                </a:solidFill>
                <a:latin typeface="Verdana"/>
                <a:ea typeface="Verdana"/>
                <a:cs typeface="Verdana"/>
                <a:sym typeface="Verdana"/>
              </a:rPr>
              <a:t>Inline, for text</a:t>
            </a:r>
            <a:endParaRPr sz="1650">
              <a:solidFill>
                <a:schemeClr val="dk1"/>
              </a:solidFill>
              <a:latin typeface="Verdana"/>
              <a:ea typeface="Verdana"/>
              <a:cs typeface="Verdana"/>
              <a:sym typeface="Verdana"/>
            </a:endParaRPr>
          </a:p>
          <a:p>
            <a:pPr indent="-333375" lvl="0" marL="457200" rtl="0" algn="l">
              <a:lnSpc>
                <a:spcPct val="115000"/>
              </a:lnSpc>
              <a:spcBef>
                <a:spcPts val="0"/>
              </a:spcBef>
              <a:spcAft>
                <a:spcPts val="0"/>
              </a:spcAft>
              <a:buClr>
                <a:schemeClr val="dk1"/>
              </a:buClr>
              <a:buSzPts val="1650"/>
              <a:buFont typeface="Verdana"/>
              <a:buChar char="●"/>
            </a:pPr>
            <a:r>
              <a:rPr lang="en" sz="1650">
                <a:solidFill>
                  <a:schemeClr val="dk1"/>
                </a:solidFill>
                <a:latin typeface="Verdana"/>
                <a:ea typeface="Verdana"/>
                <a:cs typeface="Verdana"/>
                <a:sym typeface="Verdana"/>
              </a:rPr>
              <a:t>Table, for two-dimensional table data</a:t>
            </a:r>
            <a:endParaRPr sz="1650">
              <a:solidFill>
                <a:schemeClr val="dk1"/>
              </a:solidFill>
              <a:latin typeface="Verdana"/>
              <a:ea typeface="Verdana"/>
              <a:cs typeface="Verdana"/>
              <a:sym typeface="Verdana"/>
            </a:endParaRPr>
          </a:p>
          <a:p>
            <a:pPr indent="-333375" lvl="0" marL="457200" rtl="0" algn="l">
              <a:lnSpc>
                <a:spcPct val="115000"/>
              </a:lnSpc>
              <a:spcBef>
                <a:spcPts val="0"/>
              </a:spcBef>
              <a:spcAft>
                <a:spcPts val="0"/>
              </a:spcAft>
              <a:buClr>
                <a:schemeClr val="dk1"/>
              </a:buClr>
              <a:buSzPts val="1650"/>
              <a:buFont typeface="Verdana"/>
              <a:buChar char="●"/>
            </a:pPr>
            <a:r>
              <a:rPr lang="en" sz="1650">
                <a:solidFill>
                  <a:schemeClr val="dk1"/>
                </a:solidFill>
                <a:latin typeface="Verdana"/>
                <a:ea typeface="Verdana"/>
                <a:cs typeface="Verdana"/>
                <a:sym typeface="Verdana"/>
              </a:rPr>
              <a:t>Positioned, for explicit position of an element</a:t>
            </a:r>
            <a:endParaRPr sz="16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650">
                <a:solidFill>
                  <a:schemeClr val="dk1"/>
                </a:solidFill>
                <a:latin typeface="Verdana"/>
                <a:ea typeface="Verdana"/>
                <a:cs typeface="Verdana"/>
                <a:sym typeface="Verdana"/>
              </a:rPr>
              <a:t>The Flexible Box Layout Module, makes it easier to design flexible responsive layout structure without using float or positioning.</a:t>
            </a:r>
            <a:endParaRPr sz="20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0"/>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Flex Container</a:t>
            </a:r>
            <a:endParaRPr>
              <a:solidFill>
                <a:srgbClr val="FFFF00"/>
              </a:solidFill>
            </a:endParaRPr>
          </a:p>
        </p:txBody>
      </p:sp>
      <p:sp>
        <p:nvSpPr>
          <p:cNvPr id="194" name="Google Shape;194;p30"/>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flex-direction</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defines in which direction the container wants to stack the flex items.</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Values : </a:t>
            </a:r>
            <a:endParaRPr sz="1350">
              <a:solidFill>
                <a:schemeClr val="dk1"/>
              </a:solidFill>
              <a:latin typeface="Verdana"/>
              <a:ea typeface="Verdana"/>
              <a:cs typeface="Verdana"/>
              <a:sym typeface="Verdana"/>
            </a:endParaRPr>
          </a:p>
          <a:p>
            <a:pPr indent="-317500" lvl="0" marL="457200" rtl="0" algn="l">
              <a:lnSpc>
                <a:spcPct val="115000"/>
              </a:lnSpc>
              <a:spcBef>
                <a:spcPts val="1400"/>
              </a:spcBef>
              <a:spcAft>
                <a:spcPts val="0"/>
              </a:spcAft>
              <a:buClr>
                <a:schemeClr val="dk1"/>
              </a:buClr>
              <a:buSzPts val="1400"/>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column</a:t>
            </a:r>
            <a:r>
              <a:rPr lang="en" sz="1450">
                <a:solidFill>
                  <a:srgbClr val="FFFF00"/>
                </a:solidFill>
                <a:latin typeface="Verdana"/>
                <a:ea typeface="Verdana"/>
                <a:cs typeface="Verdana"/>
                <a:sym typeface="Verdana"/>
              </a:rPr>
              <a:t> </a:t>
            </a:r>
            <a:r>
              <a:rPr lang="en" sz="1450">
                <a:solidFill>
                  <a:schemeClr val="dk1"/>
                </a:solidFill>
                <a:latin typeface="Verdana"/>
                <a:ea typeface="Verdana"/>
                <a:cs typeface="Verdana"/>
                <a:sym typeface="Verdana"/>
              </a:rPr>
              <a:t>value stacks the flex items vertically (from top to bottom)</a:t>
            </a:r>
            <a:endParaRPr sz="1450">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column-reverse</a:t>
            </a:r>
            <a:r>
              <a:rPr lang="en" sz="1450">
                <a:solidFill>
                  <a:schemeClr val="dk1"/>
                </a:solidFill>
                <a:latin typeface="Verdana"/>
                <a:ea typeface="Verdana"/>
                <a:cs typeface="Verdana"/>
                <a:sym typeface="Verdana"/>
              </a:rPr>
              <a:t> value stacks the flex items vertically (but from bottom to top)</a:t>
            </a:r>
            <a:endParaRPr sz="1450">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row</a:t>
            </a:r>
            <a:r>
              <a:rPr lang="en" sz="1450">
                <a:solidFill>
                  <a:srgbClr val="FFFF00"/>
                </a:solidFill>
                <a:latin typeface="Verdana"/>
                <a:ea typeface="Verdana"/>
                <a:cs typeface="Verdana"/>
                <a:sym typeface="Verdana"/>
              </a:rPr>
              <a:t> </a:t>
            </a:r>
            <a:r>
              <a:rPr lang="en" sz="1450">
                <a:solidFill>
                  <a:schemeClr val="dk1"/>
                </a:solidFill>
                <a:latin typeface="Verdana"/>
                <a:ea typeface="Verdana"/>
                <a:cs typeface="Verdana"/>
                <a:sym typeface="Verdana"/>
              </a:rPr>
              <a:t>value stacks the flex items horizontally (from left to right)</a:t>
            </a:r>
            <a:endParaRPr sz="1450">
              <a:solidFill>
                <a:schemeClr val="dk1"/>
              </a:solidFill>
              <a:latin typeface="Verdana"/>
              <a:ea typeface="Verdana"/>
              <a:cs typeface="Verdana"/>
              <a:sym typeface="Verdana"/>
            </a:endParaRPr>
          </a:p>
          <a:p>
            <a:pPr indent="-317500" lvl="0" marL="457200" rtl="0" algn="l">
              <a:lnSpc>
                <a:spcPct val="115000"/>
              </a:lnSpc>
              <a:spcBef>
                <a:spcPts val="0"/>
              </a:spcBef>
              <a:spcAft>
                <a:spcPts val="0"/>
              </a:spcAft>
              <a:buClr>
                <a:schemeClr val="dk1"/>
              </a:buClr>
              <a:buSzPts val="1400"/>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row-reverse</a:t>
            </a:r>
            <a:r>
              <a:rPr lang="en" sz="1450">
                <a:solidFill>
                  <a:schemeClr val="dk1"/>
                </a:solidFill>
                <a:latin typeface="Verdana"/>
                <a:ea typeface="Verdana"/>
                <a:cs typeface="Verdana"/>
                <a:sym typeface="Verdana"/>
              </a:rPr>
              <a:t> value stacks the flex items horizontally (but from right to left)</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1"/>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Flex Container</a:t>
            </a:r>
            <a:endParaRPr>
              <a:solidFill>
                <a:srgbClr val="FFFF00"/>
              </a:solidFill>
            </a:endParaRPr>
          </a:p>
        </p:txBody>
      </p:sp>
      <p:sp>
        <p:nvSpPr>
          <p:cNvPr id="200" name="Google Shape;200;p31"/>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flex-wrap</a:t>
            </a:r>
            <a:r>
              <a:rPr lang="en" sz="1350">
                <a:solidFill>
                  <a:schemeClr val="dk1"/>
                </a:solidFill>
                <a:latin typeface="Verdana"/>
                <a:ea typeface="Verdana"/>
                <a:cs typeface="Verdana"/>
                <a:sym typeface="Verdana"/>
              </a:rPr>
              <a:t> property specifies whether the flex items should wrap or not</a:t>
            </a:r>
            <a:endParaRPr sz="15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550">
                <a:solidFill>
                  <a:schemeClr val="dk1"/>
                </a:solidFill>
                <a:latin typeface="Verdana"/>
                <a:ea typeface="Verdana"/>
                <a:cs typeface="Verdana"/>
                <a:sym typeface="Verdana"/>
              </a:rPr>
              <a:t>Values : </a:t>
            </a:r>
            <a:endParaRPr sz="1550">
              <a:solidFill>
                <a:schemeClr val="dk1"/>
              </a:solidFill>
              <a:latin typeface="Verdana"/>
              <a:ea typeface="Verdana"/>
              <a:cs typeface="Verdana"/>
              <a:sym typeface="Verdana"/>
            </a:endParaRPr>
          </a:p>
          <a:p>
            <a:pPr indent="-317500" lvl="0" marL="457200" rtl="0" algn="l">
              <a:lnSpc>
                <a:spcPct val="115000"/>
              </a:lnSpc>
              <a:spcBef>
                <a:spcPts val="1400"/>
              </a:spcBef>
              <a:spcAft>
                <a:spcPts val="0"/>
              </a:spcAft>
              <a:buClr>
                <a:schemeClr val="dk1"/>
              </a:buClr>
              <a:buSzPts val="1400"/>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wrap</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value specifies that the flex items will wrap if necessary</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nowrap</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value specifies that the flex items will not wrap (this is default)</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50">
                <a:solidFill>
                  <a:schemeClr val="dk1"/>
                </a:solidFill>
                <a:latin typeface="Verdana"/>
                <a:ea typeface="Verdana"/>
                <a:cs typeface="Verdana"/>
                <a:sym typeface="Verdana"/>
              </a:rPr>
              <a:t>The</a:t>
            </a:r>
            <a:r>
              <a:rPr lang="en" sz="1350">
                <a:solidFill>
                  <a:srgbClr val="FFFF00"/>
                </a:solidFill>
                <a:latin typeface="Verdana"/>
                <a:ea typeface="Verdana"/>
                <a:cs typeface="Verdana"/>
                <a:sym typeface="Verdana"/>
              </a:rPr>
              <a:t> </a:t>
            </a:r>
            <a:r>
              <a:rPr lang="en">
                <a:solidFill>
                  <a:srgbClr val="FFFF00"/>
                </a:solidFill>
                <a:latin typeface="Courier New"/>
                <a:ea typeface="Courier New"/>
                <a:cs typeface="Courier New"/>
                <a:sym typeface="Courier New"/>
              </a:rPr>
              <a:t>wrap-reverse</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value specifies that the flexible items will wrap if necessary, in reverse order</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flex-flow</a:t>
            </a:r>
            <a:r>
              <a:rPr lang="en" sz="1350">
                <a:solidFill>
                  <a:schemeClr val="dk1"/>
                </a:solidFill>
                <a:latin typeface="Verdana"/>
                <a:ea typeface="Verdana"/>
                <a:cs typeface="Verdana"/>
                <a:sym typeface="Verdana"/>
              </a:rPr>
              <a:t> property is a shorthand property for setting both the </a:t>
            </a:r>
            <a:r>
              <a:rPr lang="en">
                <a:solidFill>
                  <a:srgbClr val="FFFF00"/>
                </a:solidFill>
                <a:latin typeface="Courier New"/>
                <a:ea typeface="Courier New"/>
                <a:cs typeface="Courier New"/>
                <a:sym typeface="Courier New"/>
              </a:rPr>
              <a:t>flex-direction</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and</a:t>
            </a:r>
            <a:r>
              <a:rPr lang="en" sz="1350">
                <a:solidFill>
                  <a:srgbClr val="FFFF00"/>
                </a:solidFill>
                <a:latin typeface="Verdana"/>
                <a:ea typeface="Verdana"/>
                <a:cs typeface="Verdana"/>
                <a:sym typeface="Verdana"/>
              </a:rPr>
              <a:t> </a:t>
            </a:r>
            <a:r>
              <a:rPr lang="en">
                <a:solidFill>
                  <a:srgbClr val="FFFF00"/>
                </a:solidFill>
                <a:latin typeface="Courier New"/>
                <a:ea typeface="Courier New"/>
                <a:cs typeface="Courier New"/>
                <a:sym typeface="Courier New"/>
              </a:rPr>
              <a:t>flex-wrap</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properties.</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justify-content</a:t>
            </a:r>
            <a:r>
              <a:rPr lang="en" sz="1350">
                <a:solidFill>
                  <a:schemeClr val="dk1"/>
                </a:solidFill>
                <a:latin typeface="Verdana"/>
                <a:ea typeface="Verdana"/>
                <a:cs typeface="Verdana"/>
                <a:sym typeface="Verdana"/>
              </a:rPr>
              <a:t> property is used to align the flex items , values (center , end , start , space-between , space around ,..)</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150">
              <a:highlight>
                <a:srgbClr val="FFFFFF"/>
              </a:highlight>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32"/>
          <p:cNvPicPr preferRelativeResize="0"/>
          <p:nvPr/>
        </p:nvPicPr>
        <p:blipFill>
          <a:blip r:embed="rId3">
            <a:alphaModFix/>
          </a:blip>
          <a:stretch>
            <a:fillRect/>
          </a:stretch>
        </p:blipFill>
        <p:spPr>
          <a:xfrm>
            <a:off x="2652625" y="269200"/>
            <a:ext cx="6348875" cy="4261125"/>
          </a:xfrm>
          <a:prstGeom prst="rect">
            <a:avLst/>
          </a:prstGeom>
          <a:noFill/>
          <a:ln>
            <a:noFill/>
          </a:ln>
        </p:spPr>
      </p:pic>
      <p:pic>
        <p:nvPicPr>
          <p:cNvPr id="206" name="Google Shape;206;p32"/>
          <p:cNvPicPr preferRelativeResize="0"/>
          <p:nvPr/>
        </p:nvPicPr>
        <p:blipFill>
          <a:blip r:embed="rId4">
            <a:alphaModFix/>
          </a:blip>
          <a:stretch>
            <a:fillRect/>
          </a:stretch>
        </p:blipFill>
        <p:spPr>
          <a:xfrm>
            <a:off x="271775" y="269200"/>
            <a:ext cx="2270525" cy="23025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CSS Grid layout</a:t>
            </a:r>
            <a:endParaRPr>
              <a:solidFill>
                <a:srgbClr val="FFFF00"/>
              </a:solidFill>
            </a:endParaRPr>
          </a:p>
        </p:txBody>
      </p:sp>
      <p:sp>
        <p:nvSpPr>
          <p:cNvPr id="212" name="Google Shape;212;p33"/>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450">
                <a:solidFill>
                  <a:schemeClr val="dk1"/>
                </a:solidFill>
                <a:latin typeface="Verdana"/>
                <a:ea typeface="Verdana"/>
                <a:cs typeface="Verdana"/>
                <a:sym typeface="Verdana"/>
              </a:rPr>
              <a:t>The CSS Grid Layout Module offers a grid-based layout system, with rows and columns, making it easier to design web pages without having to use floats and positioning.</a:t>
            </a:r>
            <a:endParaRPr sz="23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pic>
        <p:nvPicPr>
          <p:cNvPr id="213" name="Google Shape;213;p33"/>
          <p:cNvPicPr preferRelativeResize="0"/>
          <p:nvPr/>
        </p:nvPicPr>
        <p:blipFill>
          <a:blip r:embed="rId3">
            <a:alphaModFix/>
          </a:blip>
          <a:stretch>
            <a:fillRect/>
          </a:stretch>
        </p:blipFill>
        <p:spPr>
          <a:xfrm>
            <a:off x="864725" y="2571748"/>
            <a:ext cx="7591800" cy="166892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4"/>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Grid Container</a:t>
            </a:r>
            <a:endParaRPr>
              <a:solidFill>
                <a:srgbClr val="FFFF00"/>
              </a:solidFill>
            </a:endParaRPr>
          </a:p>
        </p:txBody>
      </p:sp>
      <p:sp>
        <p:nvSpPr>
          <p:cNvPr id="219" name="Google Shape;219;p34"/>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To make an HTML element behave as a grid container, you have to set the </a:t>
            </a:r>
            <a:r>
              <a:rPr lang="en">
                <a:solidFill>
                  <a:schemeClr val="dk1"/>
                </a:solidFill>
                <a:latin typeface="Courier New"/>
                <a:ea typeface="Courier New"/>
                <a:cs typeface="Courier New"/>
                <a:sym typeface="Courier New"/>
              </a:rPr>
              <a:t>display</a:t>
            </a:r>
            <a:r>
              <a:rPr lang="en" sz="1350">
                <a:solidFill>
                  <a:schemeClr val="dk1"/>
                </a:solidFill>
                <a:latin typeface="Verdana"/>
                <a:ea typeface="Verdana"/>
                <a:cs typeface="Verdana"/>
                <a:sym typeface="Verdana"/>
              </a:rPr>
              <a:t> property to </a:t>
            </a:r>
            <a:r>
              <a:rPr lang="en">
                <a:solidFill>
                  <a:srgbClr val="FFFF00"/>
                </a:solidFill>
                <a:latin typeface="Courier New"/>
                <a:ea typeface="Courier New"/>
                <a:cs typeface="Courier New"/>
                <a:sym typeface="Courier New"/>
              </a:rPr>
              <a:t>grid</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or </a:t>
            </a:r>
            <a:r>
              <a:rPr lang="en">
                <a:solidFill>
                  <a:srgbClr val="FFFF00"/>
                </a:solidFill>
                <a:latin typeface="Courier New"/>
                <a:ea typeface="Courier New"/>
                <a:cs typeface="Courier New"/>
                <a:sym typeface="Courier New"/>
              </a:rPr>
              <a:t>inline-grid</a:t>
            </a:r>
            <a:r>
              <a:rPr lang="en" sz="1350">
                <a:solidFill>
                  <a:srgbClr val="FFFF00"/>
                </a:solidFill>
                <a:latin typeface="Verdana"/>
                <a:ea typeface="Verdana"/>
                <a:cs typeface="Verdana"/>
                <a:sym typeface="Verdana"/>
              </a:rPr>
              <a:t>.</a:t>
            </a:r>
            <a:endParaRPr sz="1350">
              <a:solidFill>
                <a:srgbClr val="FFFF00"/>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Grid containers consist of grid items, placed inside columns and rows.</a:t>
            </a:r>
            <a:endParaRPr sz="1350">
              <a:solidFill>
                <a:schemeClr val="dk1"/>
              </a:solidFill>
              <a:latin typeface="Verdana"/>
              <a:ea typeface="Verdana"/>
              <a:cs typeface="Verdana"/>
              <a:sym typeface="Verdana"/>
            </a:endParaRPr>
          </a:p>
          <a:p>
            <a:pPr indent="-314325" lvl="0" marL="457200" rtl="0" algn="l">
              <a:lnSpc>
                <a:spcPct val="115000"/>
              </a:lnSpc>
              <a:spcBef>
                <a:spcPts val="1400"/>
              </a:spcBef>
              <a:spcAft>
                <a:spcPts val="0"/>
              </a:spcAft>
              <a:buClr>
                <a:schemeClr val="dk1"/>
              </a:buClr>
              <a:buSzPts val="1350"/>
              <a:buFont typeface="Verdana"/>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grid-template-columns</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defines the number of columns in your grid layout,</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50">
                <a:solidFill>
                  <a:schemeClr val="dk1"/>
                </a:solidFill>
                <a:latin typeface="Verdana"/>
                <a:ea typeface="Verdana"/>
                <a:cs typeface="Verdana"/>
                <a:sym typeface="Verdana"/>
              </a:rPr>
              <a:t>The</a:t>
            </a:r>
            <a:r>
              <a:rPr lang="en" sz="1350">
                <a:solidFill>
                  <a:srgbClr val="FFFF00"/>
                </a:solidFill>
                <a:latin typeface="Verdana"/>
                <a:ea typeface="Verdana"/>
                <a:cs typeface="Verdana"/>
                <a:sym typeface="Verdana"/>
              </a:rPr>
              <a:t> </a:t>
            </a:r>
            <a:r>
              <a:rPr lang="en">
                <a:solidFill>
                  <a:srgbClr val="FFFF00"/>
                </a:solidFill>
                <a:latin typeface="Courier New"/>
                <a:ea typeface="Courier New"/>
                <a:cs typeface="Courier New"/>
                <a:sym typeface="Courier New"/>
              </a:rPr>
              <a:t>grid-template-rows</a:t>
            </a:r>
            <a:r>
              <a:rPr lang="en" sz="1350">
                <a:solidFill>
                  <a:schemeClr val="dk1"/>
                </a:solidFill>
                <a:latin typeface="Verdana"/>
                <a:ea typeface="Verdana"/>
                <a:cs typeface="Verdana"/>
                <a:sym typeface="Verdana"/>
              </a:rPr>
              <a:t> property defines the height of each row</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justify-content</a:t>
            </a:r>
            <a:r>
              <a:rPr lang="en" sz="1350">
                <a:solidFill>
                  <a:schemeClr val="dk1"/>
                </a:solidFill>
                <a:latin typeface="Verdana"/>
                <a:ea typeface="Verdana"/>
                <a:cs typeface="Verdana"/>
                <a:sym typeface="Verdana"/>
              </a:rPr>
              <a:t> property is used to align the whole grid inside the container</a:t>
            </a:r>
            <a:endParaRPr sz="13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align-content</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is used to </a:t>
            </a:r>
            <a:r>
              <a:rPr i="1" lang="en" sz="1350">
                <a:solidFill>
                  <a:schemeClr val="dk1"/>
                </a:solidFill>
                <a:latin typeface="Verdana"/>
                <a:ea typeface="Verdana"/>
                <a:cs typeface="Verdana"/>
                <a:sym typeface="Verdana"/>
              </a:rPr>
              <a:t>vertically</a:t>
            </a:r>
            <a:r>
              <a:rPr lang="en" sz="1350">
                <a:solidFill>
                  <a:schemeClr val="dk1"/>
                </a:solidFill>
                <a:latin typeface="Verdana"/>
                <a:ea typeface="Verdana"/>
                <a:cs typeface="Verdana"/>
                <a:sym typeface="Verdana"/>
              </a:rPr>
              <a:t> align the whole grid inside the container</a:t>
            </a:r>
            <a:endParaRPr sz="1350">
              <a:solidFill>
                <a:schemeClr val="dk1"/>
              </a:solidFill>
              <a:latin typeface="Verdana"/>
              <a:ea typeface="Verdana"/>
              <a:cs typeface="Verdana"/>
              <a:sym typeface="Verdana"/>
            </a:endParaRPr>
          </a:p>
          <a:p>
            <a:pPr indent="-314325" lvl="0" marL="457200" rtl="0" algn="l">
              <a:lnSpc>
                <a:spcPct val="115000"/>
              </a:lnSpc>
              <a:spcBef>
                <a:spcPts val="0"/>
              </a:spcBef>
              <a:spcAft>
                <a:spcPts val="0"/>
              </a:spcAft>
              <a:buClr>
                <a:schemeClr val="dk1"/>
              </a:buClr>
              <a:buSzPts val="1350"/>
              <a:buFont typeface="Verdana"/>
              <a:buChar char="●"/>
            </a:pPr>
            <a:r>
              <a:rPr lang="en" sz="1350">
                <a:solidFill>
                  <a:schemeClr val="dk1"/>
                </a:solidFill>
                <a:latin typeface="Verdana"/>
                <a:ea typeface="Verdana"/>
                <a:cs typeface="Verdana"/>
                <a:sym typeface="Verdana"/>
              </a:rPr>
              <a:t>The </a:t>
            </a:r>
            <a:r>
              <a:rPr lang="en">
                <a:solidFill>
                  <a:srgbClr val="FFFF00"/>
                </a:solidFill>
                <a:latin typeface="Courier New"/>
                <a:ea typeface="Courier New"/>
                <a:cs typeface="Courier New"/>
                <a:sym typeface="Courier New"/>
              </a:rPr>
              <a:t>gap</a:t>
            </a:r>
            <a:r>
              <a:rPr lang="en" sz="1350">
                <a:solidFill>
                  <a:srgbClr val="FFFF00"/>
                </a:solidFill>
                <a:latin typeface="Verdana"/>
                <a:ea typeface="Verdana"/>
                <a:cs typeface="Verdana"/>
                <a:sym typeface="Verdana"/>
              </a:rPr>
              <a:t> </a:t>
            </a:r>
            <a:r>
              <a:rPr lang="en" sz="1350">
                <a:solidFill>
                  <a:schemeClr val="dk1"/>
                </a:solidFill>
                <a:latin typeface="Verdana"/>
                <a:ea typeface="Verdana"/>
                <a:cs typeface="Verdana"/>
                <a:sym typeface="Verdana"/>
              </a:rPr>
              <a:t>property is width of gap between columns</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5"/>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Grid Item</a:t>
            </a:r>
            <a:endParaRPr>
              <a:solidFill>
                <a:srgbClr val="FFFF00"/>
              </a:solidFill>
            </a:endParaRPr>
          </a:p>
        </p:txBody>
      </p:sp>
      <p:sp>
        <p:nvSpPr>
          <p:cNvPr id="225" name="Google Shape;225;p35"/>
          <p:cNvSpPr txBox="1"/>
          <p:nvPr/>
        </p:nvSpPr>
        <p:spPr>
          <a:xfrm>
            <a:off x="507600" y="1307225"/>
            <a:ext cx="7591800" cy="3380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450">
                <a:solidFill>
                  <a:schemeClr val="dk1"/>
                </a:solidFill>
                <a:latin typeface="Verdana"/>
                <a:ea typeface="Verdana"/>
                <a:cs typeface="Verdana"/>
                <a:sym typeface="Verdana"/>
              </a:rPr>
              <a:t>A grid </a:t>
            </a:r>
            <a:r>
              <a:rPr i="1" lang="en" sz="1450">
                <a:solidFill>
                  <a:schemeClr val="dk1"/>
                </a:solidFill>
                <a:latin typeface="Verdana"/>
                <a:ea typeface="Verdana"/>
                <a:cs typeface="Verdana"/>
                <a:sym typeface="Verdana"/>
              </a:rPr>
              <a:t>container</a:t>
            </a:r>
            <a:r>
              <a:rPr lang="en" sz="1450">
                <a:solidFill>
                  <a:schemeClr val="dk1"/>
                </a:solidFill>
                <a:latin typeface="Verdana"/>
                <a:ea typeface="Verdana"/>
                <a:cs typeface="Verdana"/>
                <a:sym typeface="Verdana"/>
              </a:rPr>
              <a:t> contains grid </a:t>
            </a:r>
            <a:r>
              <a:rPr i="1" lang="en" sz="1450">
                <a:solidFill>
                  <a:schemeClr val="dk1"/>
                </a:solidFill>
                <a:latin typeface="Verdana"/>
                <a:ea typeface="Verdana"/>
                <a:cs typeface="Verdana"/>
                <a:sym typeface="Verdana"/>
              </a:rPr>
              <a:t>items</a:t>
            </a:r>
            <a:r>
              <a:rPr lang="en" sz="1450">
                <a:solidFill>
                  <a:schemeClr val="dk1"/>
                </a:solidFill>
                <a:latin typeface="Verdana"/>
                <a:ea typeface="Verdana"/>
                <a:cs typeface="Verdana"/>
                <a:sym typeface="Verdana"/>
              </a:rPr>
              <a:t>.</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450">
                <a:solidFill>
                  <a:schemeClr val="dk1"/>
                </a:solidFill>
                <a:latin typeface="Verdana"/>
                <a:ea typeface="Verdana"/>
                <a:cs typeface="Verdana"/>
                <a:sym typeface="Verdana"/>
              </a:rPr>
              <a:t>By default, a container has one grid item for each column, in each row, but you can style the grid items so that they will span multiple columns and/or rows.</a:t>
            </a:r>
            <a:endParaRPr sz="1650">
              <a:solidFill>
                <a:schemeClr val="dk1"/>
              </a:solidFill>
              <a:latin typeface="Verdana"/>
              <a:ea typeface="Verdana"/>
              <a:cs typeface="Verdana"/>
              <a:sym typeface="Verdana"/>
            </a:endParaRPr>
          </a:p>
          <a:p>
            <a:pPr indent="-314325" lvl="0" marL="457200" rtl="0" algn="l">
              <a:lnSpc>
                <a:spcPct val="115000"/>
              </a:lnSpc>
              <a:spcBef>
                <a:spcPts val="1400"/>
              </a:spcBef>
              <a:spcAft>
                <a:spcPts val="0"/>
              </a:spcAft>
              <a:buClr>
                <a:schemeClr val="dk1"/>
              </a:buClr>
              <a:buSzPts val="1350"/>
              <a:buFont typeface="Verdana"/>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grid-column</a:t>
            </a:r>
            <a:r>
              <a:rPr lang="en" sz="1450">
                <a:solidFill>
                  <a:srgbClr val="FFFF00"/>
                </a:solidFill>
                <a:latin typeface="Verdana"/>
                <a:ea typeface="Verdana"/>
                <a:cs typeface="Verdana"/>
                <a:sym typeface="Verdana"/>
              </a:rPr>
              <a:t> </a:t>
            </a:r>
            <a:r>
              <a:rPr lang="en" sz="1450">
                <a:solidFill>
                  <a:schemeClr val="dk1"/>
                </a:solidFill>
                <a:latin typeface="Verdana"/>
                <a:ea typeface="Verdana"/>
                <a:cs typeface="Verdana"/>
                <a:sym typeface="Verdana"/>
              </a:rPr>
              <a:t>property defines on which column(s) to place an item( it short of</a:t>
            </a:r>
            <a:r>
              <a:rPr lang="en" sz="1450">
                <a:solidFill>
                  <a:srgbClr val="FFFF00"/>
                </a:solidFill>
                <a:latin typeface="Verdana"/>
                <a:ea typeface="Verdana"/>
                <a:cs typeface="Verdana"/>
                <a:sym typeface="Verdana"/>
              </a:rPr>
              <a:t> </a:t>
            </a:r>
            <a:r>
              <a:rPr lang="en" sz="1500">
                <a:solidFill>
                  <a:srgbClr val="FFFF00"/>
                </a:solidFill>
                <a:latin typeface="Courier New"/>
                <a:ea typeface="Courier New"/>
                <a:cs typeface="Courier New"/>
                <a:sym typeface="Courier New"/>
              </a:rPr>
              <a:t>grid-column-start</a:t>
            </a:r>
            <a:r>
              <a:rPr lang="en" sz="1450">
                <a:solidFill>
                  <a:schemeClr val="dk1"/>
                </a:solidFill>
                <a:latin typeface="Verdana"/>
                <a:ea typeface="Verdana"/>
                <a:cs typeface="Verdana"/>
                <a:sym typeface="Verdana"/>
              </a:rPr>
              <a:t> and the </a:t>
            </a:r>
            <a:r>
              <a:rPr lang="en" sz="1500">
                <a:solidFill>
                  <a:srgbClr val="FFFF00"/>
                </a:solidFill>
                <a:latin typeface="Courier New"/>
                <a:ea typeface="Courier New"/>
                <a:cs typeface="Courier New"/>
                <a:sym typeface="Courier New"/>
              </a:rPr>
              <a:t>grid-column-end</a:t>
            </a:r>
            <a:r>
              <a:rPr lang="en" sz="1450">
                <a:solidFill>
                  <a:schemeClr val="dk1"/>
                </a:solidFill>
                <a:latin typeface="Verdana"/>
                <a:ea typeface="Verdana"/>
                <a:cs typeface="Verdana"/>
                <a:sym typeface="Verdana"/>
              </a:rPr>
              <a:t> ) To place an item, you can refer to </a:t>
            </a:r>
            <a:r>
              <a:rPr i="1" lang="en" sz="1450">
                <a:solidFill>
                  <a:schemeClr val="dk1"/>
                </a:solidFill>
                <a:latin typeface="Verdana"/>
                <a:ea typeface="Verdana"/>
                <a:cs typeface="Verdana"/>
                <a:sym typeface="Verdana"/>
              </a:rPr>
              <a:t>line numbers</a:t>
            </a:r>
            <a:r>
              <a:rPr lang="en" sz="1450">
                <a:solidFill>
                  <a:schemeClr val="dk1"/>
                </a:solidFill>
                <a:latin typeface="Verdana"/>
                <a:ea typeface="Verdana"/>
                <a:cs typeface="Verdana"/>
                <a:sym typeface="Verdana"/>
              </a:rPr>
              <a:t>, or use the keyword "span" to define how many columns the item will span.</a:t>
            </a:r>
            <a:endParaRPr sz="1650">
              <a:solidFill>
                <a:schemeClr val="dk1"/>
              </a:solidFill>
              <a:latin typeface="Verdana"/>
              <a:ea typeface="Verdana"/>
              <a:cs typeface="Verdana"/>
              <a:sym typeface="Verdana"/>
            </a:endParaRPr>
          </a:p>
          <a:p>
            <a:pPr indent="-301625" lvl="0" marL="457200" rtl="0" algn="l">
              <a:lnSpc>
                <a:spcPct val="115000"/>
              </a:lnSpc>
              <a:spcBef>
                <a:spcPts val="0"/>
              </a:spcBef>
              <a:spcAft>
                <a:spcPts val="0"/>
              </a:spcAft>
              <a:buClr>
                <a:schemeClr val="dk1"/>
              </a:buClr>
              <a:buSzPts val="1150"/>
              <a:buFont typeface="Verdana"/>
              <a:buChar char="●"/>
            </a:pPr>
            <a:r>
              <a:rPr lang="en" sz="1450">
                <a:solidFill>
                  <a:schemeClr val="dk1"/>
                </a:solidFill>
                <a:latin typeface="Verdana"/>
                <a:ea typeface="Verdana"/>
                <a:cs typeface="Verdana"/>
                <a:sym typeface="Verdana"/>
              </a:rPr>
              <a:t>The </a:t>
            </a:r>
            <a:r>
              <a:rPr lang="en" sz="1500">
                <a:solidFill>
                  <a:srgbClr val="FFFF00"/>
                </a:solidFill>
                <a:latin typeface="Courier New"/>
                <a:ea typeface="Courier New"/>
                <a:cs typeface="Courier New"/>
                <a:sym typeface="Courier New"/>
              </a:rPr>
              <a:t>grid-row</a:t>
            </a:r>
            <a:r>
              <a:rPr lang="en" sz="1450">
                <a:solidFill>
                  <a:schemeClr val="dk1"/>
                </a:solidFill>
                <a:latin typeface="Verdana"/>
                <a:ea typeface="Verdana"/>
                <a:cs typeface="Verdana"/>
                <a:sym typeface="Verdana"/>
              </a:rPr>
              <a:t> property defines on which row to place an item</a:t>
            </a:r>
            <a:endParaRPr sz="16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450">
                <a:solidFill>
                  <a:schemeClr val="dk1"/>
                </a:solidFill>
                <a:latin typeface="Verdana"/>
                <a:ea typeface="Verdana"/>
                <a:cs typeface="Verdana"/>
                <a:sym typeface="Verdana"/>
              </a:rPr>
              <a:t>More Info : </a:t>
            </a:r>
            <a:r>
              <a:rPr lang="en" sz="1100" u="sng">
                <a:solidFill>
                  <a:schemeClr val="hlink"/>
                </a:solidFill>
                <a:hlinkClick r:id="rId3"/>
              </a:rPr>
              <a:t>repeat() - CSS: Cascading Style Sheets | MDN (mozilla.org)</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6"/>
          <p:cNvPicPr preferRelativeResize="0"/>
          <p:nvPr/>
        </p:nvPicPr>
        <p:blipFill>
          <a:blip r:embed="rId3">
            <a:alphaModFix/>
          </a:blip>
          <a:stretch>
            <a:fillRect/>
          </a:stretch>
        </p:blipFill>
        <p:spPr>
          <a:xfrm>
            <a:off x="152400" y="152400"/>
            <a:ext cx="4295355" cy="4838699"/>
          </a:xfrm>
          <a:prstGeom prst="rect">
            <a:avLst/>
          </a:prstGeom>
          <a:noFill/>
          <a:ln>
            <a:noFill/>
          </a:ln>
        </p:spPr>
      </p:pic>
      <p:pic>
        <p:nvPicPr>
          <p:cNvPr id="231" name="Google Shape;231;p36"/>
          <p:cNvPicPr preferRelativeResize="0"/>
          <p:nvPr/>
        </p:nvPicPr>
        <p:blipFill>
          <a:blip r:embed="rId4">
            <a:alphaModFix/>
          </a:blip>
          <a:stretch>
            <a:fillRect/>
          </a:stretch>
        </p:blipFill>
        <p:spPr>
          <a:xfrm>
            <a:off x="4600150" y="152400"/>
            <a:ext cx="4391449" cy="46699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7"/>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Icon</a:t>
            </a:r>
            <a:endParaRPr>
              <a:solidFill>
                <a:srgbClr val="FFFF00"/>
              </a:solidFill>
            </a:endParaRPr>
          </a:p>
        </p:txBody>
      </p:sp>
      <p:sp>
        <p:nvSpPr>
          <p:cNvPr id="237" name="Google Shape;237;p37"/>
          <p:cNvSpPr txBox="1"/>
          <p:nvPr/>
        </p:nvSpPr>
        <p:spPr>
          <a:xfrm>
            <a:off x="426150" y="1214150"/>
            <a:ext cx="8406000" cy="3678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The simplest way to add an icon to your HTML page, is with an icon library, such as Font Awesome.</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sz="1350">
                <a:solidFill>
                  <a:schemeClr val="dk1"/>
                </a:solidFill>
                <a:latin typeface="Verdana"/>
                <a:ea typeface="Verdana"/>
                <a:cs typeface="Verdana"/>
                <a:sym typeface="Verdana"/>
              </a:rPr>
              <a:t>Add the name of the specified icon class to any inline HTML element (like </a:t>
            </a:r>
            <a:r>
              <a:rPr lang="en">
                <a:solidFill>
                  <a:schemeClr val="dk1"/>
                </a:solidFill>
                <a:latin typeface="Courier New"/>
                <a:ea typeface="Courier New"/>
                <a:cs typeface="Courier New"/>
                <a:sym typeface="Courier New"/>
              </a:rPr>
              <a:t>&lt;i&gt;</a:t>
            </a:r>
            <a:r>
              <a:rPr lang="en" sz="1350">
                <a:solidFill>
                  <a:schemeClr val="dk1"/>
                </a:solidFill>
                <a:latin typeface="Verdana"/>
                <a:ea typeface="Verdana"/>
                <a:cs typeface="Verdana"/>
                <a:sym typeface="Verdana"/>
              </a:rPr>
              <a:t> or </a:t>
            </a:r>
            <a:r>
              <a:rPr lang="en">
                <a:solidFill>
                  <a:schemeClr val="dk1"/>
                </a:solidFill>
                <a:latin typeface="Courier New"/>
                <a:ea typeface="Courier New"/>
                <a:cs typeface="Courier New"/>
                <a:sym typeface="Courier New"/>
              </a:rPr>
              <a:t>&lt;span&gt;</a:t>
            </a:r>
            <a:r>
              <a:rPr lang="en" sz="1350">
                <a:solidFill>
                  <a:schemeClr val="dk1"/>
                </a:solidFill>
                <a:latin typeface="Verdana"/>
                <a:ea typeface="Verdana"/>
                <a:cs typeface="Verdana"/>
                <a:sym typeface="Verdana"/>
              </a:rPr>
              <a:t>).</a:t>
            </a:r>
            <a:endParaRPr sz="13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a:solidFill>
                  <a:schemeClr val="dk1"/>
                </a:solidFill>
                <a:latin typeface="Verdana"/>
                <a:ea typeface="Verdana"/>
                <a:cs typeface="Verdana"/>
                <a:sym typeface="Verdana"/>
              </a:rPr>
              <a:t>Add </a:t>
            </a:r>
            <a:r>
              <a:rPr lang="en">
                <a:solidFill>
                  <a:schemeClr val="dk1"/>
                </a:solidFill>
                <a:latin typeface="Verdana"/>
                <a:ea typeface="Verdana"/>
                <a:cs typeface="Verdana"/>
                <a:sym typeface="Verdana"/>
              </a:rPr>
              <a:t>font Awesome</a:t>
            </a:r>
            <a:r>
              <a:rPr lang="en">
                <a:solidFill>
                  <a:schemeClr val="dk1"/>
                </a:solidFill>
                <a:latin typeface="Verdana"/>
                <a:ea typeface="Verdana"/>
                <a:cs typeface="Verdana"/>
                <a:sym typeface="Verdana"/>
              </a:rPr>
              <a:t> on head tag : </a:t>
            </a:r>
            <a:r>
              <a:rPr lang="en">
                <a:solidFill>
                  <a:srgbClr val="FFFF00"/>
                </a:solidFill>
                <a:latin typeface="Verdana"/>
                <a:ea typeface="Verdana"/>
                <a:cs typeface="Verdana"/>
                <a:sym typeface="Verdana"/>
              </a:rPr>
              <a:t>&lt;link href="//netdna.bootstrapcdn.com/font-awesome/3.2.1/css/font-awesome.css" rel="stylesheet" /&gt;</a:t>
            </a:r>
            <a:endParaRPr>
              <a:solidFill>
                <a:srgbClr val="FFFF00"/>
              </a:solidFill>
              <a:latin typeface="Verdana"/>
              <a:ea typeface="Verdana"/>
              <a:cs typeface="Verdana"/>
              <a:sym typeface="Verdana"/>
            </a:endParaRPr>
          </a:p>
          <a:p>
            <a:pPr indent="0" lvl="0" marL="0" rtl="0" algn="l">
              <a:lnSpc>
                <a:spcPct val="115000"/>
              </a:lnSpc>
              <a:spcBef>
                <a:spcPts val="1400"/>
              </a:spcBef>
              <a:spcAft>
                <a:spcPts val="0"/>
              </a:spcAft>
              <a:buNone/>
            </a:pPr>
            <a:r>
              <a:rPr lang="en">
                <a:solidFill>
                  <a:srgbClr val="FFFF00"/>
                </a:solidFill>
                <a:latin typeface="Verdana"/>
                <a:ea typeface="Verdana"/>
                <a:cs typeface="Verdana"/>
                <a:sym typeface="Verdana"/>
              </a:rPr>
              <a:t>OR </a:t>
            </a:r>
            <a:r>
              <a:rPr lang="en">
                <a:solidFill>
                  <a:srgbClr val="FFFF00"/>
                </a:solidFill>
                <a:latin typeface="Verdana"/>
                <a:ea typeface="Verdana"/>
                <a:cs typeface="Verdana"/>
                <a:sym typeface="Verdana"/>
              </a:rPr>
              <a:t>Add font Awesome on head tag : </a:t>
            </a:r>
            <a:endParaRPr>
              <a:solidFill>
                <a:srgbClr val="FFFF00"/>
              </a:solidFill>
              <a:latin typeface="Verdana"/>
              <a:ea typeface="Verdana"/>
              <a:cs typeface="Verdana"/>
              <a:sym typeface="Verdana"/>
            </a:endParaRPr>
          </a:p>
          <a:p>
            <a:pPr indent="0" lvl="0" marL="0" rtl="0" algn="l">
              <a:lnSpc>
                <a:spcPct val="115000"/>
              </a:lnSpc>
              <a:spcBef>
                <a:spcPts val="1400"/>
              </a:spcBef>
              <a:spcAft>
                <a:spcPts val="0"/>
              </a:spcAft>
              <a:buNone/>
            </a:pPr>
            <a:r>
              <a:rPr lang="en" sz="1100">
                <a:solidFill>
                  <a:srgbClr val="FFFF00"/>
                </a:solidFill>
              </a:rPr>
              <a:t>&lt;link rel="stylesheet" href="</a:t>
            </a:r>
            <a:r>
              <a:rPr lang="en" sz="1100" u="sng">
                <a:solidFill>
                  <a:srgbClr val="FFFF00"/>
                </a:solidFill>
                <a:hlinkClick r:id="rId3">
                  <a:extLst>
                    <a:ext uri="{A12FA001-AC4F-418D-AE19-62706E023703}">
                      <ahyp:hlinkClr val="tx"/>
                    </a:ext>
                  </a:extLst>
                </a:hlinkClick>
              </a:rPr>
              <a:t>https://cdnjs.cloudflare.com/ajax/libs/font-awesome/6.4.0/css/all.min.css"</a:t>
            </a:r>
            <a:r>
              <a:rPr lang="en" sz="1100">
                <a:solidFill>
                  <a:srgbClr val="FFFF00"/>
                </a:solidFill>
              </a:rPr>
              <a:t> integrity="sha512-iecdLmaskl7CVkqkXNQ/ZH/XLlvWZOJyj7Yy7tcenmpD1ypASozpmT/E0iPtmFIB46ZmdtAc9eNBvH0H/ZpiBw==" crossorigin="anonymous" referrerpolicy="no-referrer" /&gt;</a:t>
            </a:r>
            <a:endParaRPr>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rPr lang="en">
                <a:solidFill>
                  <a:schemeClr val="dk1"/>
                </a:solidFill>
                <a:latin typeface="Verdana"/>
                <a:ea typeface="Verdana"/>
                <a:cs typeface="Verdana"/>
                <a:sym typeface="Verdana"/>
              </a:rPr>
              <a:t>Documentation : </a:t>
            </a:r>
            <a:r>
              <a:rPr lang="en">
                <a:solidFill>
                  <a:srgbClr val="FFFF00"/>
                </a:solidFill>
                <a:latin typeface="Verdana"/>
                <a:ea typeface="Verdana"/>
                <a:cs typeface="Verdana"/>
                <a:sym typeface="Verdana"/>
              </a:rPr>
              <a:t>https://fontawesome.com/v4/examples/</a:t>
            </a:r>
            <a:endParaRPr>
              <a:solidFill>
                <a:srgbClr val="FFFF00"/>
              </a:solidFill>
              <a:latin typeface="Verdana"/>
              <a:ea typeface="Verdana"/>
              <a:cs typeface="Verdana"/>
              <a:sym typeface="Verdana"/>
            </a:endParaRPr>
          </a:p>
          <a:p>
            <a:pPr indent="0" lvl="0" marL="0" rtl="0" algn="l">
              <a:lnSpc>
                <a:spcPct val="115000"/>
              </a:lnSpc>
              <a:spcBef>
                <a:spcPts val="1400"/>
              </a:spcBef>
              <a:spcAft>
                <a:spcPts val="0"/>
              </a:spcAft>
              <a:buNone/>
            </a:pPr>
            <a:r>
              <a:t/>
            </a:r>
            <a:endParaRPr sz="16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50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450">
              <a:solidFill>
                <a:schemeClr val="dk1"/>
              </a:solidFill>
              <a:latin typeface="Verdana"/>
              <a:ea typeface="Verdana"/>
              <a:cs typeface="Verdana"/>
              <a:sym typeface="Verdana"/>
            </a:endParaRPr>
          </a:p>
          <a:p>
            <a:pPr indent="0" lvl="0" marL="0" rtl="0" algn="l">
              <a:lnSpc>
                <a:spcPct val="115000"/>
              </a:lnSpc>
              <a:spcBef>
                <a:spcPts val="1400"/>
              </a:spcBef>
              <a:spcAft>
                <a:spcPts val="0"/>
              </a:spcAft>
              <a:buNone/>
            </a:pPr>
            <a:r>
              <a:t/>
            </a:r>
            <a:endParaRPr sz="1250">
              <a:solidFill>
                <a:schemeClr val="dk1"/>
              </a:solidFill>
              <a:latin typeface="Verdana"/>
              <a:ea typeface="Verdana"/>
              <a:cs typeface="Verdana"/>
              <a:sym typeface="Verdana"/>
            </a:endParaRPr>
          </a:p>
          <a:p>
            <a:pPr indent="0" lvl="0" marL="0" rtl="0" algn="l">
              <a:spcBef>
                <a:spcPts val="1100"/>
              </a:spcBef>
              <a:spcAft>
                <a:spcPts val="0"/>
              </a:spcAft>
              <a:buNone/>
            </a:pPr>
            <a:r>
              <a:t/>
            </a:r>
            <a:endParaRPr sz="1450">
              <a:solidFill>
                <a:schemeClr val="dk1"/>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311700" y="372725"/>
            <a:ext cx="8520600" cy="645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FFFF00"/>
                </a:solidFill>
              </a:rPr>
              <a:t>Task</a:t>
            </a:r>
            <a:endParaRPr>
              <a:solidFill>
                <a:srgbClr val="FFFF00"/>
              </a:solidFill>
            </a:endParaRPr>
          </a:p>
        </p:txBody>
      </p:sp>
      <p:pic>
        <p:nvPicPr>
          <p:cNvPr id="243" name="Google Shape;243;p38"/>
          <p:cNvPicPr preferRelativeResize="0"/>
          <p:nvPr/>
        </p:nvPicPr>
        <p:blipFill>
          <a:blip r:embed="rId3">
            <a:alphaModFix/>
          </a:blip>
          <a:stretch>
            <a:fillRect/>
          </a:stretch>
        </p:blipFill>
        <p:spPr>
          <a:xfrm>
            <a:off x="236225" y="945500"/>
            <a:ext cx="8671553" cy="3820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